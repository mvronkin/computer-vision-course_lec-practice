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487" r:id="rId2"/>
    <p:sldId id="368" r:id="rId3"/>
    <p:sldId id="478" r:id="rId4"/>
    <p:sldId id="367" r:id="rId5"/>
    <p:sldId id="370" r:id="rId6"/>
    <p:sldId id="371" r:id="rId7"/>
    <p:sldId id="482" r:id="rId8"/>
    <p:sldId id="479" r:id="rId9"/>
    <p:sldId id="372" r:id="rId10"/>
    <p:sldId id="369" r:id="rId11"/>
    <p:sldId id="373" r:id="rId12"/>
    <p:sldId id="374" r:id="rId13"/>
    <p:sldId id="375" r:id="rId14"/>
    <p:sldId id="376" r:id="rId15"/>
    <p:sldId id="377" r:id="rId16"/>
    <p:sldId id="378" r:id="rId17"/>
    <p:sldId id="322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47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5755"/>
  </p:normalViewPr>
  <p:slideViewPr>
    <p:cSldViewPr snapToGrid="0" snapToObjects="1">
      <p:cViewPr varScale="1">
        <p:scale>
          <a:sx n="133" d="100"/>
          <a:sy n="133" d="100"/>
        </p:scale>
        <p:origin x="22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7718EA-7D96-2C42-99BB-3CFB79B669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6466544-4255-6243-97FB-02909C5525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D28F637-6F5B-CF4A-9C43-9506A86CE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FDE9A-95AE-C54E-9BD2-E3F1B3A36F9A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488A65E-0065-A140-ABD0-A59FEDBF1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FAEDB0A-F00B-6244-B0E2-77FDFB928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D8CBC-7EA0-3C47-A853-8C1656C2B3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053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B25497-97F3-124F-8142-266C3B5CC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8490F0-0CCC-D54C-AC22-B0E578F587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183EEA-6653-F246-921B-108B45B60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FDE9A-95AE-C54E-9BD2-E3F1B3A36F9A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8EAC72E-5556-BB4E-8612-A487D58E6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7ED3518-05CB-A441-AE64-34F5BDFDE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D8CBC-7EA0-3C47-A853-8C1656C2B3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7778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D4FD20-7E0C-3A40-B214-7B5F8B461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05B35E9-02CE-9943-A678-CC0EF9B96E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645EC38-D87F-1D49-A319-3BC8D1540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FDE9A-95AE-C54E-9BD2-E3F1B3A36F9A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9F7AD42-BFBC-E542-A647-5249AB868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34CCC0-4849-6840-9F70-22AE88970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D8CBC-7EA0-3C47-A853-8C1656C2B3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2817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9050BF-6010-6E46-8673-2707CC6BB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3A4616-EDC6-7444-82B6-568A51C466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94AB7AD-6678-D54D-A86A-CD4848DBEB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FC4272C-940D-184A-BE8D-3E62A6DD5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FDE9A-95AE-C54E-9BD2-E3F1B3A36F9A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0702E98-D921-EB42-BD2C-85E6117DB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5265CD4-75DF-814D-A7C6-30A56C617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D8CBC-7EA0-3C47-A853-8C1656C2B3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6464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7C1357-ADF1-E943-8F50-FF7AF1BC0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7C72A80-9D9F-4A45-B780-F1F55BE4D1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D7C2B7B-8801-8A46-8EF1-869D35B039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AD9A4F1-CDBA-8240-BC33-B592279D65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B8EA84E-3B86-8A4D-A8BC-41A98B839B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6C71DB8-8769-DF48-B77C-BD0187E8D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FDE9A-95AE-C54E-9BD2-E3F1B3A36F9A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F2F7C3B-E610-A34A-8DC7-F821CF2B6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C468B06-4421-6D46-856A-9ABCE0DA1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D8CBC-7EA0-3C47-A853-8C1656C2B3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3898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7CC676-139C-6043-98AF-53FDDCB5A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ED45A49-54B7-1741-BC17-BBBF3E52E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FDE9A-95AE-C54E-9BD2-E3F1B3A36F9A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3119A26-331A-EA49-B48B-464A5264E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5BF027C-2555-D340-B2AD-3A8EE6F39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D8CBC-7EA0-3C47-A853-8C1656C2B3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4473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798BD5F-A930-5A4B-822F-C6473E641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FDE9A-95AE-C54E-9BD2-E3F1B3A36F9A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6BA88FB-98F8-1342-B128-305D95E98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76678EC-40EF-534C-B8FA-EE7CE7D55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D8CBC-7EA0-3C47-A853-8C1656C2B3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202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78274B-3B88-6248-A442-2F2F3CA75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C7168E-5DB9-9B41-9765-078D5FC8B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7F48413-30AC-C643-B354-E547A27DBC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77FCB4A-2E86-BD4F-A14A-6B7E70E73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FDE9A-95AE-C54E-9BD2-E3F1B3A36F9A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B642B5D-4F65-714A-932D-6DA815449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8343EF6-3623-4C4D-9187-A7E0A62C1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D8CBC-7EA0-3C47-A853-8C1656C2B3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0088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55392E-8E45-B84A-A06F-FBC86C359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67C5761-FB8A-E444-91F1-9340056CAF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7A6B24F-CC49-3746-B5A8-881EC1A04B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AD27417-B1E1-1F49-A1C0-D318A0BEE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FDE9A-95AE-C54E-9BD2-E3F1B3A36F9A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3B24C49-270F-384F-8D49-534B91AA0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B01B6FD-670C-3A43-A40A-725AA7AC3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D8CBC-7EA0-3C47-A853-8C1656C2B3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4647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0DC0B1-0B4A-DA4A-8F46-8544E177D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ED3D392-0596-9646-A781-7038F8A26E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4F2AC5C-AAE7-E24C-BBEC-188088BA6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FDE9A-95AE-C54E-9BD2-E3F1B3A36F9A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59B7AE0-C709-8140-809C-1F782FA2B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AA4B86F-2097-CA44-9056-4AA49122E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D8CBC-7EA0-3C47-A853-8C1656C2B3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9074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F4B38E6-9848-7446-AC7C-F121E4BD59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0A8DE01-3831-B34A-8A79-0F66BF5558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6F112D-0EF7-6F40-9861-A5D850978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FDE9A-95AE-C54E-9BD2-E3F1B3A36F9A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98AB2B4-C772-FF44-B5F1-A3F6CB789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BFEF180-3FA5-E243-8A5D-909664FD7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D8CBC-7EA0-3C47-A853-8C1656C2B3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6441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509EBA-B91A-104B-A544-6B1AB3A02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B34CCAA-269A-0F40-BB89-8F90E2BDC3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B6B4549-117D-384A-B12B-43CCCA57F9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AFDE9A-95AE-C54E-9BD2-E3F1B3A36F9A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2398370-8EB1-B74A-AC47-8ADA597DDA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F59BD2C-470F-3C49-86D5-45160E4C4A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ED8CBC-7EA0-3C47-A853-8C1656C2B3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1126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546"/>
            <a:ext cx="12235534" cy="6904338"/>
          </a:xfrm>
          <a:prstGeom prst="rect">
            <a:avLst/>
          </a:prstGeom>
        </p:spPr>
      </p:pic>
      <p:sp>
        <p:nvSpPr>
          <p:cNvPr id="6" name="Заголовок 1"/>
          <p:cNvSpPr txBox="1">
            <a:spLocks/>
          </p:cNvSpPr>
          <p:nvPr/>
        </p:nvSpPr>
        <p:spPr>
          <a:xfrm>
            <a:off x="662940" y="2125414"/>
            <a:ext cx="9361170" cy="278302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sz="6000" b="1" dirty="0">
                <a:solidFill>
                  <a:schemeClr val="bg1"/>
                </a:solidFill>
              </a:rPr>
              <a:t>Обзор задачи генерации</a:t>
            </a:r>
            <a:endParaRPr lang="en-US" sz="6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313575" y="3942157"/>
            <a:ext cx="1068705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Тренды и другие задачи компьютерного зрения. </a:t>
            </a:r>
          </a:p>
          <a:p>
            <a:pPr algn="ctr"/>
            <a:r>
              <a:rPr lang="ru-RU" sz="2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Курс: Компьютерное зрение. Тема </a:t>
            </a:r>
            <a:r>
              <a:rPr lang="en-US" sz="2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ru-RU" sz="2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sz="2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ru-RU" sz="2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ctr"/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Ронкин Михаил Владимирович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US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</a:t>
            </a:r>
            <a:r>
              <a:rPr lang="ru-R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.т.н. доцент ИРИТ-РТФ, УРФУ</a:t>
            </a:r>
            <a:endParaRPr lang="ru-RU"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1E70A63-9727-C149-9B7C-2C790A47062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0" t="27061" r="44625" b="33918"/>
          <a:stretch/>
        </p:blipFill>
        <p:spPr>
          <a:xfrm>
            <a:off x="313575" y="223521"/>
            <a:ext cx="2446733" cy="129850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60707EF-500A-7D41-9AB2-00FF8CA96997}"/>
              </a:ext>
            </a:extLst>
          </p:cNvPr>
          <p:cNvSpPr txBox="1"/>
          <p:nvPr/>
        </p:nvSpPr>
        <p:spPr>
          <a:xfrm>
            <a:off x="102870" y="6020668"/>
            <a:ext cx="10086794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5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Проект реализуется победителем Конкурса на предоставление грантов преподавателям магистратуры 2020/2021 благотворительной программы «Стипендиальная программа Владимира Потанина» Благотворительного фонда Владимира Потанина</a:t>
            </a:r>
            <a:endParaRPr lang="ru-RU" sz="1500" dirty="0">
              <a:solidFill>
                <a:schemeClr val="bg1"/>
              </a:solidFill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B068071-FFE8-104D-81EE-08E5E9F340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0308" y="104815"/>
            <a:ext cx="3762792" cy="153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015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1045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4800" b="1" dirty="0">
                <a:solidFill>
                  <a:schemeClr val="bg1"/>
                </a:solidFill>
              </a:rPr>
              <a:t>Порождающие сети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/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04371" y="1332139"/>
                <a:ext cx="11426371" cy="5315404"/>
              </a:xfrm>
            </p:spPr>
            <p:txBody>
              <a:bodyPr>
                <a:noAutofit/>
              </a:bodyPr>
              <a:lstStyle/>
              <a:p>
                <a:pPr marL="174625" indent="-163513">
                  <a:spcBef>
                    <a:spcPts val="1200"/>
                  </a:spcBef>
                </a:pPr>
                <a:r>
                  <a:rPr lang="ru-RU" sz="2200" b="1" dirty="0">
                    <a:solidFill>
                      <a:schemeClr val="bg1"/>
                    </a:solidFill>
                  </a:rPr>
                  <a:t>Дискриминантные модели </a:t>
                </a:r>
                <a:r>
                  <a:rPr lang="ru-RU" sz="2200" dirty="0">
                    <a:solidFill>
                      <a:schemeClr val="bg1"/>
                    </a:solidFill>
                  </a:rPr>
                  <a:t>обучают функцию, которая отображает вход </a:t>
                </a:r>
                <a14:m>
                  <m:oMath xmlns:m="http://schemas.openxmlformats.org/officeDocument/2006/math">
                    <m:r>
                      <a:rPr lang="ru-RU" sz="2200" b="1" i="1" dirty="0">
                        <a:solidFill>
                          <a:schemeClr val="bg1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ru-RU" sz="2200" dirty="0">
                    <a:solidFill>
                      <a:schemeClr val="bg1"/>
                    </a:solidFill>
                  </a:rPr>
                  <a:t> в некоторую метку класса </a:t>
                </a:r>
                <a14:m>
                  <m:oMath xmlns:m="http://schemas.openxmlformats.org/officeDocument/2006/math">
                    <m:r>
                      <a:rPr lang="ru-RU" sz="2200" i="1" dirty="0">
                        <a:solidFill>
                          <a:schemeClr val="bg1"/>
                        </a:solidFill>
                        <a:latin typeface="Cambria Math"/>
                      </a:rPr>
                      <m:t>𝑦</m:t>
                    </m:r>
                  </m:oMath>
                </a14:m>
                <a:r>
                  <a:rPr lang="ru-RU" sz="2200" dirty="0">
                    <a:solidFill>
                      <a:schemeClr val="bg1"/>
                    </a:solidFill>
                  </a:rPr>
                  <a:t>; </a:t>
                </a:r>
              </a:p>
              <a:p>
                <a:pPr marL="742950" lvl="2" indent="-342900">
                  <a:spcBef>
                    <a:spcPts val="1200"/>
                  </a:spcBef>
                </a:pPr>
                <a:r>
                  <a:rPr lang="ru-RU" sz="2200" dirty="0">
                    <a:solidFill>
                      <a:schemeClr val="bg1"/>
                    </a:solidFill>
                  </a:rPr>
                  <a:t>обучают </a:t>
                </a:r>
                <a:r>
                  <a:rPr lang="ru-RU" sz="2200" i="1" dirty="0">
                    <a:solidFill>
                      <a:schemeClr val="bg1"/>
                    </a:solidFill>
                  </a:rPr>
                  <a:t>условное </a:t>
                </a:r>
                <a:r>
                  <a:rPr lang="ru-RU" sz="2200" dirty="0">
                    <a:solidFill>
                      <a:schemeClr val="bg1"/>
                    </a:solidFill>
                  </a:rPr>
                  <a:t>распределение </a:t>
                </a:r>
                <a14:m>
                  <m:oMath xmlns:m="http://schemas.openxmlformats.org/officeDocument/2006/math">
                    <m:r>
                      <a:rPr lang="ru-RU" sz="2200" i="1" dirty="0">
                        <a:solidFill>
                          <a:schemeClr val="bg1"/>
                        </a:solidFill>
                        <a:latin typeface="Cambria Math"/>
                      </a:rPr>
                      <m:t>𝑝</m:t>
                    </m:r>
                    <m:r>
                      <a:rPr lang="ru-RU" sz="2200" i="1" dirty="0">
                        <a:solidFill>
                          <a:schemeClr val="bg1"/>
                        </a:solidFill>
                        <a:latin typeface="Cambria Math"/>
                      </a:rPr>
                      <m:t>(</m:t>
                    </m:r>
                    <m:r>
                      <a:rPr lang="ru-RU" sz="2200" i="1" dirty="0">
                        <a:solidFill>
                          <a:schemeClr val="bg1"/>
                        </a:solidFill>
                        <a:latin typeface="Cambria Math"/>
                      </a:rPr>
                      <m:t>𝑦</m:t>
                    </m:r>
                    <m:r>
                      <a:rPr lang="ru-RU" sz="2200" i="1" dirty="0">
                        <a:solidFill>
                          <a:schemeClr val="bg1"/>
                        </a:solidFill>
                        <a:latin typeface="Cambria Math"/>
                      </a:rPr>
                      <m:t> | </m:t>
                    </m:r>
                    <m:r>
                      <a:rPr lang="ru-RU" sz="2200" b="1" i="1" dirty="0">
                        <a:solidFill>
                          <a:schemeClr val="bg1"/>
                        </a:solidFill>
                        <a:latin typeface="Cambria Math"/>
                      </a:rPr>
                      <m:t>𝒙</m:t>
                    </m:r>
                    <m:r>
                      <a:rPr lang="ru-RU" sz="2200" i="1" dirty="0">
                        <a:solidFill>
                          <a:schemeClr val="bg1"/>
                        </a:solidFill>
                        <a:latin typeface="Cambria Math"/>
                      </a:rPr>
                      <m:t>);</m:t>
                    </m:r>
                  </m:oMath>
                </a14:m>
                <a:endParaRPr lang="ru-RU" sz="2200" dirty="0">
                  <a:solidFill>
                    <a:schemeClr val="bg1"/>
                  </a:solidFill>
                </a:endParaRPr>
              </a:p>
              <a:p>
                <a:pPr marL="742950" lvl="2" indent="-342900">
                  <a:spcBef>
                    <a:spcPts val="1200"/>
                  </a:spcBef>
                </a:pPr>
                <a:r>
                  <a:rPr lang="ru-RU" sz="2200" dirty="0">
                    <a:solidFill>
                      <a:schemeClr val="bg1"/>
                    </a:solidFill>
                  </a:rPr>
                  <a:t>Модель обучения с учителем</a:t>
                </a:r>
              </a:p>
              <a:p>
                <a:pPr marL="174625" indent="-163513">
                  <a:spcBef>
                    <a:spcPts val="1200"/>
                  </a:spcBef>
                </a:pPr>
                <a:r>
                  <a:rPr lang="ru-RU" sz="2200" b="1" dirty="0">
                    <a:solidFill>
                      <a:schemeClr val="bg1"/>
                    </a:solidFill>
                  </a:rPr>
                  <a:t>Порождающие (генеративные) модели </a:t>
                </a:r>
                <a:r>
                  <a:rPr lang="ru-RU" sz="2200" dirty="0">
                    <a:solidFill>
                      <a:schemeClr val="bg1"/>
                    </a:solidFill>
                  </a:rPr>
                  <a:t>обучают </a:t>
                </a:r>
                <a:r>
                  <a:rPr lang="ru-RU" sz="2200" i="1" dirty="0">
                    <a:solidFill>
                      <a:schemeClr val="bg1"/>
                    </a:solidFill>
                  </a:rPr>
                  <a:t>совместное </a:t>
                </a:r>
                <a:r>
                  <a:rPr lang="ru-RU" sz="2200" dirty="0">
                    <a:solidFill>
                      <a:schemeClr val="bg1"/>
                    </a:solidFill>
                  </a:rPr>
                  <a:t>распределение  </a:t>
                </a:r>
                <a:r>
                  <a:rPr lang="ru-RU" sz="2200" i="1" dirty="0">
                    <a:solidFill>
                      <a:schemeClr val="bg1"/>
                    </a:solidFill>
                  </a:rPr>
                  <a:t>p</a:t>
                </a:r>
                <a:r>
                  <a:rPr lang="ru-RU" sz="2200" dirty="0">
                    <a:solidFill>
                      <a:schemeClr val="bg1"/>
                    </a:solidFill>
                  </a:rPr>
                  <a:t>(</a:t>
                </a:r>
                <a:r>
                  <a:rPr lang="ru-RU" sz="2200" b="1" i="1" dirty="0">
                    <a:solidFill>
                      <a:schemeClr val="bg1"/>
                    </a:solidFill>
                  </a:rPr>
                  <a:t>x</a:t>
                </a:r>
                <a:r>
                  <a:rPr lang="ru-RU" sz="2200" i="1" dirty="0">
                    <a:solidFill>
                      <a:schemeClr val="bg1"/>
                    </a:solidFill>
                  </a:rPr>
                  <a:t>, y</a:t>
                </a:r>
                <a:r>
                  <a:rPr lang="ru-RU" sz="2200" dirty="0">
                    <a:solidFill>
                      <a:schemeClr val="bg1"/>
                    </a:solidFill>
                  </a:rPr>
                  <a:t>) </a:t>
                </a:r>
                <a:endParaRPr lang="en-US" sz="2200" dirty="0">
                  <a:solidFill>
                    <a:schemeClr val="bg1"/>
                  </a:solidFill>
                </a:endParaRPr>
              </a:p>
              <a:p>
                <a:pPr lvl="1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ru-RU" sz="2200" dirty="0">
                    <a:solidFill>
                      <a:schemeClr val="bg1"/>
                    </a:solidFill>
                  </a:rPr>
                  <a:t>Таким образом распределение </a:t>
                </a:r>
                <a14:m>
                  <m:oMath xmlns:m="http://schemas.openxmlformats.org/officeDocument/2006/math">
                    <m:r>
                      <a:rPr lang="ru-RU" sz="2200" i="1" dirty="0">
                        <a:solidFill>
                          <a:schemeClr val="bg1"/>
                        </a:solidFill>
                        <a:latin typeface="Cambria Math"/>
                      </a:rPr>
                      <m:t>𝑝</m:t>
                    </m:r>
                    <m:r>
                      <a:rPr lang="ru-RU" sz="2200" i="1" dirty="0">
                        <a:solidFill>
                          <a:schemeClr val="bg1"/>
                        </a:solidFill>
                        <a:latin typeface="Cambria Math"/>
                      </a:rPr>
                      <m:t>(</m:t>
                    </m:r>
                    <m:r>
                      <a:rPr lang="ru-RU" sz="2200" i="1" dirty="0">
                        <a:solidFill>
                          <a:schemeClr val="bg1"/>
                        </a:solidFill>
                        <a:latin typeface="Cambria Math"/>
                      </a:rPr>
                      <m:t>𝑦</m:t>
                    </m:r>
                    <m:r>
                      <a:rPr lang="ru-RU" sz="2200" i="1" dirty="0">
                        <a:solidFill>
                          <a:schemeClr val="bg1"/>
                        </a:solidFill>
                        <a:latin typeface="Cambria Math"/>
                      </a:rPr>
                      <m:t> | </m:t>
                    </m:r>
                    <m:r>
                      <a:rPr lang="ru-RU" sz="2200" b="1" i="1" dirty="0">
                        <a:solidFill>
                          <a:schemeClr val="bg1"/>
                        </a:solidFill>
                        <a:latin typeface="Cambria Math"/>
                      </a:rPr>
                      <m:t>𝒙</m:t>
                    </m:r>
                    <m:r>
                      <a:rPr lang="ru-RU" sz="2200" i="1" dirty="0">
                        <a:solidFill>
                          <a:schemeClr val="bg1"/>
                        </a:solidFill>
                        <a:latin typeface="Cambria Math"/>
                      </a:rPr>
                      <m:t>) </m:t>
                    </m:r>
                  </m:oMath>
                </a14:m>
                <a:r>
                  <a:rPr lang="ru-RU" sz="2200" dirty="0">
                    <a:solidFill>
                      <a:schemeClr val="bg1"/>
                    </a:solidFill>
                  </a:rPr>
                  <a:t>может быть получено как</a:t>
                </a:r>
                <a:br>
                  <a:rPr lang="ru-RU" sz="2200" dirty="0">
                    <a:solidFill>
                      <a:schemeClr val="bg1"/>
                    </a:solidFill>
                  </a:rPr>
                </a:br>
                <a14:m>
                  <m:oMath xmlns:m="http://schemas.openxmlformats.org/officeDocument/2006/math">
                    <m:r>
                      <a:rPr lang="ru-RU" sz="2200" i="1" dirty="0">
                        <a:solidFill>
                          <a:schemeClr val="bg1"/>
                        </a:solidFill>
                        <a:latin typeface="Cambria Math"/>
                      </a:rPr>
                      <m:t>𝑝</m:t>
                    </m:r>
                    <m:r>
                      <a:rPr lang="ru-RU" sz="2200" i="1" dirty="0">
                        <a:solidFill>
                          <a:schemeClr val="bg1"/>
                        </a:solidFill>
                        <a:latin typeface="Cambria Math"/>
                      </a:rPr>
                      <m:t>(</m:t>
                    </m:r>
                    <m:r>
                      <a:rPr lang="ru-RU" sz="2200" i="1" dirty="0">
                        <a:solidFill>
                          <a:schemeClr val="bg1"/>
                        </a:solidFill>
                        <a:latin typeface="Cambria Math"/>
                      </a:rPr>
                      <m:t>𝑦</m:t>
                    </m:r>
                    <m:r>
                      <a:rPr lang="ru-RU" sz="2200" i="1" dirty="0">
                        <a:solidFill>
                          <a:schemeClr val="bg1"/>
                        </a:solidFill>
                        <a:latin typeface="Cambria Math"/>
                      </a:rPr>
                      <m:t> | </m:t>
                    </m:r>
                    <m:r>
                      <a:rPr lang="ru-RU" sz="2200" b="1" i="1" dirty="0">
                        <a:solidFill>
                          <a:schemeClr val="bg1"/>
                        </a:solidFill>
                        <a:latin typeface="Cambria Math"/>
                      </a:rPr>
                      <m:t>𝒙</m:t>
                    </m:r>
                    <m:r>
                      <a:rPr lang="ru-RU" sz="2200" i="1" dirty="0">
                        <a:solidFill>
                          <a:schemeClr val="bg1"/>
                        </a:solidFill>
                        <a:latin typeface="Cambria Math"/>
                      </a:rPr>
                      <m:t>) = </m:t>
                    </m:r>
                    <m:r>
                      <a:rPr lang="ru-RU" sz="2200" i="1" dirty="0">
                        <a:solidFill>
                          <a:schemeClr val="bg1"/>
                        </a:solidFill>
                        <a:latin typeface="Cambria Math"/>
                      </a:rPr>
                      <m:t>𝑝</m:t>
                    </m:r>
                    <m:r>
                      <a:rPr lang="ru-RU" sz="2200" i="1" dirty="0">
                        <a:solidFill>
                          <a:schemeClr val="bg1"/>
                        </a:solidFill>
                        <a:latin typeface="Cambria Math"/>
                      </a:rPr>
                      <m:t>(</m:t>
                    </m:r>
                    <m:r>
                      <a:rPr lang="ru-RU" sz="2200" b="1" i="1" dirty="0">
                        <a:solidFill>
                          <a:schemeClr val="bg1"/>
                        </a:solidFill>
                        <a:latin typeface="Cambria Math"/>
                      </a:rPr>
                      <m:t>𝒙</m:t>
                    </m:r>
                    <m:r>
                      <a:rPr lang="en-US" sz="2200" i="1" dirty="0">
                        <a:solidFill>
                          <a:schemeClr val="bg1"/>
                        </a:solidFill>
                        <a:latin typeface="Cambria Math"/>
                      </a:rPr>
                      <m:t>,</m:t>
                    </m:r>
                    <m:r>
                      <a:rPr lang="ru-RU" sz="2200" i="1" dirty="0">
                        <a:solidFill>
                          <a:schemeClr val="bg1"/>
                        </a:solidFill>
                        <a:latin typeface="Cambria Math"/>
                      </a:rPr>
                      <m:t>𝑦</m:t>
                    </m:r>
                    <m:r>
                      <a:rPr lang="ru-RU" sz="2200" i="1" dirty="0">
                        <a:solidFill>
                          <a:schemeClr val="bg1"/>
                        </a:solidFill>
                        <a:latin typeface="Cambria Math"/>
                      </a:rPr>
                      <m:t>)/ </m:t>
                    </m:r>
                    <m:r>
                      <a:rPr lang="en-US" sz="2200" i="1" dirty="0">
                        <a:solidFill>
                          <a:schemeClr val="bg1"/>
                        </a:solidFill>
                        <a:latin typeface="Cambria Math"/>
                      </a:rPr>
                      <m:t>𝑝</m:t>
                    </m:r>
                    <m:r>
                      <a:rPr lang="en-US" sz="2200" i="1" dirty="0">
                        <a:solidFill>
                          <a:schemeClr val="bg1"/>
                        </a:solidFill>
                        <a:latin typeface="Cambria Math"/>
                      </a:rPr>
                      <m:t>(</m:t>
                    </m:r>
                    <m:r>
                      <a:rPr lang="en-US" sz="2200" b="1" i="1" dirty="0">
                        <a:solidFill>
                          <a:schemeClr val="bg1"/>
                        </a:solidFill>
                        <a:latin typeface="Cambria Math"/>
                      </a:rPr>
                      <m:t>𝒙</m:t>
                    </m:r>
                    <m:r>
                      <a:rPr lang="en-US" sz="2200" i="1" dirty="0">
                        <a:solidFill>
                          <a:schemeClr val="bg1"/>
                        </a:solidFill>
                        <a:latin typeface="Cambria Math"/>
                      </a:rPr>
                      <m:t>)~</m:t>
                    </m:r>
                    <m:r>
                      <a:rPr lang="en-US" sz="2200" i="1" dirty="0">
                        <a:solidFill>
                          <a:schemeClr val="bg1"/>
                        </a:solidFill>
                        <a:latin typeface="Cambria Math"/>
                      </a:rPr>
                      <m:t>𝑝</m:t>
                    </m:r>
                    <m:r>
                      <a:rPr lang="en-US" sz="2200" i="1" dirty="0">
                        <a:solidFill>
                          <a:schemeClr val="bg1"/>
                        </a:solidFill>
                        <a:latin typeface="Cambria Math"/>
                      </a:rPr>
                      <m:t>(</m:t>
                    </m:r>
                    <m:r>
                      <a:rPr lang="en-US" sz="2200" b="1" i="1" dirty="0" err="1">
                        <a:solidFill>
                          <a:schemeClr val="bg1"/>
                        </a:solidFill>
                        <a:latin typeface="Cambria Math"/>
                      </a:rPr>
                      <m:t>𝒙</m:t>
                    </m:r>
                    <m:r>
                      <a:rPr lang="en-US" sz="2200" b="1" i="1" dirty="0" err="1">
                        <a:solidFill>
                          <a:schemeClr val="bg1"/>
                        </a:solidFill>
                        <a:latin typeface="Cambria Math"/>
                      </a:rPr>
                      <m:t>,</m:t>
                    </m:r>
                    <m:r>
                      <a:rPr lang="en-US" sz="2200" i="1" dirty="0" err="1">
                        <a:solidFill>
                          <a:schemeClr val="bg1"/>
                        </a:solidFill>
                        <a:latin typeface="Cambria Math"/>
                      </a:rPr>
                      <m:t>𝑦</m:t>
                    </m:r>
                    <m:r>
                      <a:rPr lang="en-US" sz="2200" i="1" dirty="0">
                        <a:solidFill>
                          <a:schemeClr val="bg1"/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ru-RU" sz="2200" dirty="0">
                  <a:solidFill>
                    <a:schemeClr val="bg1"/>
                  </a:solidFill>
                </a:endParaRPr>
              </a:p>
              <a:p>
                <a:pPr lvl="1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ru-RU" sz="2200" dirty="0">
                    <a:solidFill>
                      <a:schemeClr val="bg1"/>
                    </a:solidFill>
                  </a:rPr>
                  <a:t>совместное распределение дает больше информации, его можно использовать, например, для порождения новых данных.</a:t>
                </a:r>
                <a:endParaRPr lang="en-US" sz="2200" dirty="0">
                  <a:solidFill>
                    <a:schemeClr val="bg1"/>
                  </a:solidFill>
                </a:endParaRPr>
              </a:p>
              <a:p>
                <a:pPr lvl="1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ru-RU" sz="2200" dirty="0">
                    <a:solidFill>
                      <a:schemeClr val="bg1"/>
                    </a:solidFill>
                  </a:rPr>
                  <a:t>могут быть задачи как с учителем, так и без учителя, </a:t>
                </a:r>
              </a:p>
              <a:p>
                <a:pPr marL="990600" lvl="2">
                  <a:spcBef>
                    <a:spcPts val="1200"/>
                  </a:spcBef>
                  <a:tabLst>
                    <a:tab pos="901700" algn="l"/>
                  </a:tabLst>
                </a:pPr>
                <a:r>
                  <a:rPr lang="ru-RU" sz="2200" dirty="0">
                    <a:solidFill>
                      <a:schemeClr val="bg1"/>
                    </a:solidFill>
                  </a:rPr>
                  <a:t>когда меток нет, но есть сами данные и  нужно смоделировать их распределение </a:t>
                </a:r>
                <a:r>
                  <a:rPr lang="ru-RU" sz="2200" i="1" dirty="0">
                    <a:solidFill>
                      <a:schemeClr val="bg1"/>
                    </a:solidFill>
                  </a:rPr>
                  <a:t>p</a:t>
                </a:r>
                <a:r>
                  <a:rPr lang="ru-RU" sz="2200" dirty="0">
                    <a:solidFill>
                      <a:schemeClr val="bg1"/>
                    </a:solidFill>
                  </a:rPr>
                  <a:t>(</a:t>
                </a:r>
                <a:r>
                  <a:rPr lang="ru-RU" sz="2200" b="1" i="1" dirty="0">
                    <a:solidFill>
                      <a:schemeClr val="bg1"/>
                    </a:solidFill>
                  </a:rPr>
                  <a:t>x</a:t>
                </a:r>
                <a:r>
                  <a:rPr lang="ru-RU" sz="2200" dirty="0">
                    <a:solidFill>
                      <a:schemeClr val="bg1"/>
                    </a:solidFill>
                  </a:rPr>
                  <a:t>)</a:t>
                </a:r>
              </a:p>
              <a:p>
                <a:pPr marL="1447800" lvl="3">
                  <a:spcBef>
                    <a:spcPts val="1200"/>
                  </a:spcBef>
                  <a:tabLst>
                    <a:tab pos="901700" algn="l"/>
                  </a:tabLst>
                </a:pPr>
                <a:r>
                  <a:rPr lang="ru-RU" sz="2000" dirty="0">
                    <a:solidFill>
                      <a:schemeClr val="bg1"/>
                    </a:solidFill>
                  </a:rPr>
                  <a:t>То есть каждому семплу смоделированных данных соответствует какой то результат с вероятностью </a:t>
                </a:r>
                <a14:m>
                  <m:oMath xmlns:m="http://schemas.openxmlformats.org/officeDocument/2006/math">
                    <m:r>
                      <a:rPr lang="ru-RU" sz="2000" i="1" dirty="0">
                        <a:solidFill>
                          <a:schemeClr val="bg1"/>
                        </a:solidFill>
                        <a:latin typeface="Cambria Math"/>
                      </a:rPr>
                      <m:t>𝑝</m:t>
                    </m:r>
                    <m:r>
                      <a:rPr lang="ru-RU" sz="2000" i="1" dirty="0">
                        <a:solidFill>
                          <a:schemeClr val="bg1"/>
                        </a:solidFill>
                        <a:latin typeface="Cambria Math"/>
                      </a:rPr>
                      <m:t>(</m:t>
                    </m:r>
                    <m:r>
                      <a:rPr lang="ru-RU" sz="2000" i="1" dirty="0">
                        <a:solidFill>
                          <a:schemeClr val="bg1"/>
                        </a:solidFill>
                        <a:latin typeface="Cambria Math"/>
                      </a:rPr>
                      <m:t>𝑦</m:t>
                    </m:r>
                    <m:r>
                      <a:rPr lang="ru-RU" sz="2000" i="1" dirty="0">
                        <a:solidFill>
                          <a:schemeClr val="bg1"/>
                        </a:solidFill>
                        <a:latin typeface="Cambria Math"/>
                      </a:rPr>
                      <m:t> | </m:t>
                    </m:r>
                    <m:r>
                      <a:rPr lang="ru-RU" sz="2000" b="1" i="1" dirty="0">
                        <a:solidFill>
                          <a:schemeClr val="bg1"/>
                        </a:solidFill>
                        <a:latin typeface="Cambria Math"/>
                      </a:rPr>
                      <m:t>𝒙</m:t>
                    </m:r>
                    <m:r>
                      <a:rPr lang="ru-RU" sz="2000" i="1" dirty="0">
                        <a:solidFill>
                          <a:schemeClr val="bg1"/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ru-RU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Текс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04371" y="1332139"/>
                <a:ext cx="11426371" cy="5315404"/>
              </a:xfrm>
              <a:blipFill>
                <a:blip r:embed="rId2"/>
                <a:stretch>
                  <a:fillRect l="-534" t="-1378" r="-53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504371" y="2992871"/>
            <a:ext cx="10716257" cy="459308"/>
          </a:xfrm>
          <a:prstGeom prst="rect">
            <a:avLst/>
          </a:prstGeom>
          <a:noFill/>
          <a:ln w="476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1652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800" b="1" dirty="0">
                <a:solidFill>
                  <a:schemeClr val="bg1"/>
                </a:solidFill>
              </a:rPr>
              <a:t>Использование порождающих сети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76915" y="1595972"/>
            <a:ext cx="11005186" cy="4710823"/>
          </a:xfrm>
        </p:spPr>
        <p:txBody>
          <a:bodyPr/>
          <a:lstStyle/>
          <a:p>
            <a:r>
              <a:rPr lang="ru-RU" sz="2200" b="1" dirty="0">
                <a:solidFill>
                  <a:schemeClr val="bg1"/>
                </a:solidFill>
              </a:rPr>
              <a:t>Генерация новых изображений.</a:t>
            </a:r>
          </a:p>
          <a:p>
            <a:r>
              <a:rPr lang="ru-RU" sz="2200" b="1" dirty="0">
                <a:solidFill>
                  <a:schemeClr val="bg1"/>
                </a:solidFill>
              </a:rPr>
              <a:t>Исследование и интерпретирование нейронных сетей </a:t>
            </a:r>
          </a:p>
          <a:p>
            <a:pPr lvl="1"/>
            <a:r>
              <a:rPr lang="ru-RU" sz="2200" dirty="0">
                <a:solidFill>
                  <a:schemeClr val="bg1"/>
                </a:solidFill>
              </a:rPr>
              <a:t>позволяют проверить, насколько хорошо понято распределение данных; </a:t>
            </a:r>
          </a:p>
          <a:p>
            <a:r>
              <a:rPr lang="en-US" sz="2200" b="1" dirty="0">
                <a:solidFill>
                  <a:schemeClr val="bg1"/>
                </a:solidFill>
              </a:rPr>
              <a:t>semi-supervised learning </a:t>
            </a:r>
            <a:r>
              <a:rPr lang="ru-RU" sz="2200" b="1" dirty="0">
                <a:solidFill>
                  <a:schemeClr val="bg1"/>
                </a:solidFill>
              </a:rPr>
              <a:t> - сети могут обучаться с недостатком данных и без разметки;</a:t>
            </a:r>
          </a:p>
          <a:p>
            <a:pPr lvl="1"/>
            <a:r>
              <a:rPr lang="ru-RU" sz="2200" dirty="0">
                <a:solidFill>
                  <a:schemeClr val="bg1"/>
                </a:solidFill>
              </a:rPr>
              <a:t>Оценка начального распределяя p(x) </a:t>
            </a:r>
          </a:p>
          <a:p>
            <a:r>
              <a:rPr lang="ru-RU" sz="2200" b="1" dirty="0">
                <a:solidFill>
                  <a:schemeClr val="bg1"/>
                </a:solidFill>
              </a:rPr>
              <a:t>Обучение </a:t>
            </a:r>
            <a:r>
              <a:rPr lang="ru-RU" sz="2200" b="1" dirty="0" err="1">
                <a:solidFill>
                  <a:schemeClr val="bg1"/>
                </a:solidFill>
              </a:rPr>
              <a:t>мультимодальным</a:t>
            </a:r>
            <a:r>
              <a:rPr lang="ru-RU" sz="2200" b="1" dirty="0">
                <a:solidFill>
                  <a:schemeClr val="bg1"/>
                </a:solidFill>
              </a:rPr>
              <a:t> выходам, </a:t>
            </a:r>
            <a:r>
              <a:rPr lang="ru-RU" sz="2200" dirty="0">
                <a:solidFill>
                  <a:schemeClr val="bg1"/>
                </a:solidFill>
              </a:rPr>
              <a:t>когда есть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ru-RU" sz="2200" dirty="0">
                <a:solidFill>
                  <a:schemeClr val="bg1"/>
                </a:solidFill>
              </a:rPr>
              <a:t>несколько правильных ответов;</a:t>
            </a:r>
          </a:p>
          <a:p>
            <a:pPr lvl="1"/>
            <a:r>
              <a:rPr lang="ru-RU" sz="2200" dirty="0">
                <a:solidFill>
                  <a:schemeClr val="bg1"/>
                </a:solidFill>
              </a:rPr>
              <a:t>например, задача предсказания следующего кадра в видеоролике, когда несколько действий имеют одинаковую вероятность. </a:t>
            </a:r>
          </a:p>
          <a:p>
            <a:r>
              <a:rPr lang="ru-RU" sz="2200" b="1" dirty="0">
                <a:solidFill>
                  <a:schemeClr val="bg1"/>
                </a:solidFill>
              </a:rPr>
              <a:t>могут служить моделями окружающего мира в обучении с</a:t>
            </a:r>
            <a:r>
              <a:rPr lang="en-US" sz="2200" b="1" dirty="0">
                <a:solidFill>
                  <a:schemeClr val="bg1"/>
                </a:solidFill>
              </a:rPr>
              <a:t> </a:t>
            </a:r>
            <a:r>
              <a:rPr lang="ru-RU" sz="2200" b="1" dirty="0">
                <a:solidFill>
                  <a:schemeClr val="bg1"/>
                </a:solidFill>
              </a:rPr>
              <a:t>подкреплением.</a:t>
            </a:r>
          </a:p>
          <a:p>
            <a:r>
              <a:rPr lang="ru-RU" sz="2200" b="1" dirty="0">
                <a:solidFill>
                  <a:schemeClr val="bg1"/>
                </a:solidFill>
              </a:rPr>
              <a:t>Могут использоваться для генерации данных как таковых.</a:t>
            </a:r>
            <a:endParaRPr lang="en-US" sz="2200" b="1" dirty="0">
              <a:solidFill>
                <a:schemeClr val="bg1"/>
              </a:solidFill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91373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1" y="21160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4800" b="1" dirty="0">
                <a:solidFill>
                  <a:schemeClr val="bg1"/>
                </a:solidFill>
              </a:rPr>
              <a:t>Порождающие сети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18227" y="1253331"/>
            <a:ext cx="11507907" cy="4351338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Среди порождающих подходов следует выделить два: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Вариационные </a:t>
            </a:r>
            <a:r>
              <a:rPr lang="ru-RU" dirty="0" err="1">
                <a:solidFill>
                  <a:schemeClr val="bg1"/>
                </a:solidFill>
              </a:rPr>
              <a:t>автоэнкодеры</a:t>
            </a:r>
            <a:r>
              <a:rPr lang="ru-RU" dirty="0">
                <a:solidFill>
                  <a:schemeClr val="bg1"/>
                </a:solidFill>
              </a:rPr>
              <a:t> (</a:t>
            </a:r>
            <a:r>
              <a:rPr lang="ru-RU" i="1" dirty="0" err="1">
                <a:solidFill>
                  <a:schemeClr val="bg1"/>
                </a:solidFill>
              </a:rPr>
              <a:t>Variational</a:t>
            </a:r>
            <a:r>
              <a:rPr lang="ru-RU" i="1" dirty="0">
                <a:solidFill>
                  <a:schemeClr val="bg1"/>
                </a:solidFill>
              </a:rPr>
              <a:t> </a:t>
            </a:r>
            <a:r>
              <a:rPr lang="ru-RU" i="1" dirty="0" err="1">
                <a:solidFill>
                  <a:schemeClr val="bg1"/>
                </a:solidFill>
              </a:rPr>
              <a:t>Autoencoders</a:t>
            </a:r>
            <a:r>
              <a:rPr lang="en-US" i="1" dirty="0">
                <a:solidFill>
                  <a:schemeClr val="bg1"/>
                </a:solidFill>
              </a:rPr>
              <a:t>,</a:t>
            </a:r>
            <a:r>
              <a:rPr lang="ru-RU" i="1" dirty="0">
                <a:solidFill>
                  <a:schemeClr val="bg1"/>
                </a:solidFill>
              </a:rPr>
              <a:t> </a:t>
            </a:r>
            <a:r>
              <a:rPr lang="en-US" i="1" dirty="0">
                <a:solidFill>
                  <a:schemeClr val="bg1"/>
                </a:solidFill>
              </a:rPr>
              <a:t>VAE)</a:t>
            </a:r>
          </a:p>
          <a:p>
            <a:pPr lvl="1"/>
            <a:r>
              <a:rPr lang="ru-RU" i="1" dirty="0" err="1">
                <a:solidFill>
                  <a:schemeClr val="bg1"/>
                </a:solidFill>
              </a:rPr>
              <a:t>Генеративно</a:t>
            </a:r>
            <a:r>
              <a:rPr lang="ru-RU" i="1" dirty="0">
                <a:solidFill>
                  <a:schemeClr val="bg1"/>
                </a:solidFill>
              </a:rPr>
              <a:t>-состязательные сети </a:t>
            </a:r>
            <a:r>
              <a:rPr lang="en-US" i="1" dirty="0">
                <a:solidFill>
                  <a:schemeClr val="bg1"/>
                </a:solidFill>
              </a:rPr>
              <a:t>(Generative-Adversarial Network, GAN)</a:t>
            </a:r>
          </a:p>
          <a:p>
            <a:pPr lvl="2"/>
            <a:r>
              <a:rPr lang="ru-RU" i="1" dirty="0">
                <a:solidFill>
                  <a:schemeClr val="bg1"/>
                </a:solidFill>
              </a:rPr>
              <a:t>Подходы могут комбинироваться</a:t>
            </a:r>
          </a:p>
          <a:p>
            <a:pPr lvl="2"/>
            <a:r>
              <a:rPr lang="ru-RU" i="1" dirty="0">
                <a:solidFill>
                  <a:schemeClr val="bg1"/>
                </a:solidFill>
              </a:rPr>
              <a:t>Сегодня есть также ряд альтернативных подходов, например, деформационный или основанных на </a:t>
            </a:r>
            <a:r>
              <a:rPr lang="en-US" i="1" dirty="0">
                <a:solidFill>
                  <a:schemeClr val="bg1"/>
                </a:solidFill>
              </a:rPr>
              <a:t>zero-short learning</a:t>
            </a:r>
            <a:endParaRPr lang="ru-RU" dirty="0">
              <a:solidFill>
                <a:schemeClr val="bg1"/>
              </a:solidFill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721E2EE5-1760-3D3D-FB24-E8EEF29C6E72}"/>
              </a:ext>
            </a:extLst>
          </p:cNvPr>
          <p:cNvGrpSpPr/>
          <p:nvPr/>
        </p:nvGrpSpPr>
        <p:grpSpPr>
          <a:xfrm>
            <a:off x="798418" y="3614675"/>
            <a:ext cx="10515600" cy="3031724"/>
            <a:chOff x="390560" y="3429000"/>
            <a:chExt cx="10963241" cy="3160116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384C2DBE-3102-1621-532C-CA25451637E0}"/>
                </a:ext>
              </a:extLst>
            </p:cNvPr>
            <p:cNvSpPr/>
            <p:nvPr/>
          </p:nvSpPr>
          <p:spPr>
            <a:xfrm>
              <a:off x="390561" y="3429000"/>
              <a:ext cx="10963240" cy="316011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4" name="Рисунок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0560" y="4138103"/>
              <a:ext cx="5705440" cy="24510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</p:pic>
        <p:pic>
          <p:nvPicPr>
            <p:cNvPr id="6" name="Рисунок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0" y="3429000"/>
              <a:ext cx="5182263" cy="316011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</p:pic>
      </p:grpSp>
      <p:sp>
        <p:nvSpPr>
          <p:cNvPr id="7" name="Прямоугольник 6"/>
          <p:cNvSpPr/>
          <p:nvPr/>
        </p:nvSpPr>
        <p:spPr>
          <a:xfrm>
            <a:off x="798418" y="1604734"/>
            <a:ext cx="9901096" cy="878347"/>
          </a:xfrm>
          <a:prstGeom prst="rect">
            <a:avLst/>
          </a:prstGeom>
          <a:noFill/>
          <a:ln w="476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2368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5029" y="274638"/>
            <a:ext cx="10290628" cy="922114"/>
          </a:xfrm>
        </p:spPr>
        <p:txBody>
          <a:bodyPr>
            <a:noAutofit/>
          </a:bodyPr>
          <a:lstStyle/>
          <a:p>
            <a:pPr algn="ctr"/>
            <a:r>
              <a:rPr lang="ru-RU" sz="4800" b="1" dirty="0">
                <a:solidFill>
                  <a:schemeClr val="bg1"/>
                </a:solidFill>
              </a:rPr>
              <a:t>Вариационный </a:t>
            </a:r>
            <a:r>
              <a:rPr lang="ru-RU" sz="4800" b="1" dirty="0" err="1">
                <a:solidFill>
                  <a:schemeClr val="bg1"/>
                </a:solidFill>
              </a:rPr>
              <a:t>автоэенкодер</a:t>
            </a:r>
            <a:r>
              <a:rPr lang="ru-RU" sz="4800" b="1" dirty="0">
                <a:solidFill>
                  <a:schemeClr val="bg1"/>
                </a:solidFill>
              </a:rPr>
              <a:t> </a:t>
            </a:r>
            <a:r>
              <a:rPr lang="en-US" sz="4800" b="1" dirty="0">
                <a:solidFill>
                  <a:schemeClr val="bg1"/>
                </a:solidFill>
              </a:rPr>
              <a:t>VAE</a:t>
            </a:r>
            <a:endParaRPr lang="ru-RU" sz="4800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7629" y="1268760"/>
            <a:ext cx="11717000" cy="5400600"/>
          </a:xfrm>
        </p:spPr>
        <p:txBody>
          <a:bodyPr>
            <a:normAutofit/>
          </a:bodyPr>
          <a:lstStyle/>
          <a:p>
            <a:r>
              <a:rPr lang="ru-RU" sz="2200" b="1" i="1" dirty="0">
                <a:solidFill>
                  <a:schemeClr val="bg1"/>
                </a:solidFill>
              </a:rPr>
              <a:t>Вариационные </a:t>
            </a:r>
            <a:r>
              <a:rPr lang="ru-RU" sz="2200" b="1" i="1" dirty="0" err="1">
                <a:solidFill>
                  <a:schemeClr val="bg1"/>
                </a:solidFill>
              </a:rPr>
              <a:t>автоэнкодеры</a:t>
            </a:r>
            <a:r>
              <a:rPr lang="ru-RU" sz="2200" dirty="0">
                <a:solidFill>
                  <a:schemeClr val="bg1"/>
                </a:solidFill>
              </a:rPr>
              <a:t> (</a:t>
            </a:r>
            <a:r>
              <a:rPr lang="ru-RU" sz="2200" i="1" dirty="0" err="1">
                <a:solidFill>
                  <a:schemeClr val="bg1"/>
                </a:solidFill>
              </a:rPr>
              <a:t>Variational</a:t>
            </a:r>
            <a:r>
              <a:rPr lang="ru-RU" sz="2200" i="1" dirty="0">
                <a:solidFill>
                  <a:schemeClr val="bg1"/>
                </a:solidFill>
              </a:rPr>
              <a:t> </a:t>
            </a:r>
            <a:r>
              <a:rPr lang="ru-RU" sz="2200" i="1" dirty="0" err="1">
                <a:solidFill>
                  <a:schemeClr val="bg1"/>
                </a:solidFill>
              </a:rPr>
              <a:t>Autoencoders</a:t>
            </a:r>
            <a:r>
              <a:rPr lang="ru-RU" sz="2200" dirty="0">
                <a:solidFill>
                  <a:schemeClr val="bg1"/>
                </a:solidFill>
              </a:rPr>
              <a:t>) — это </a:t>
            </a:r>
            <a:r>
              <a:rPr lang="ru-RU" sz="2200" dirty="0" err="1">
                <a:solidFill>
                  <a:schemeClr val="bg1"/>
                </a:solidFill>
              </a:rPr>
              <a:t>автоэнкодеры</a:t>
            </a:r>
            <a:r>
              <a:rPr lang="ru-RU" sz="2200" dirty="0">
                <a:solidFill>
                  <a:schemeClr val="bg1"/>
                </a:solidFill>
              </a:rPr>
              <a:t>, которые учатся отображать объекты в непрерывное скрытое пространство и,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ru-RU" sz="2200" dirty="0">
                <a:solidFill>
                  <a:schemeClr val="bg1"/>
                </a:solidFill>
              </a:rPr>
              <a:t>затем, воссоздавать их из него.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dirty="0">
                <a:solidFill>
                  <a:schemeClr val="bg1"/>
                </a:solidFill>
              </a:rPr>
              <a:t>Суть </a:t>
            </a:r>
            <a:r>
              <a:rPr lang="en-US" sz="2200" dirty="0">
                <a:solidFill>
                  <a:schemeClr val="bg1"/>
                </a:solidFill>
              </a:rPr>
              <a:t>VAE</a:t>
            </a:r>
            <a:r>
              <a:rPr lang="ru-RU" sz="2200" dirty="0">
                <a:solidFill>
                  <a:schemeClr val="bg1"/>
                </a:solidFill>
              </a:rPr>
              <a:t> в кодировании информации в виде нормального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ru-RU" sz="2200" dirty="0">
                <a:solidFill>
                  <a:schemeClr val="bg1"/>
                </a:solidFill>
              </a:rPr>
              <a:t>распределения с параметрами</a:t>
            </a:r>
            <a:endParaRPr lang="en-US" sz="2200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2200" dirty="0">
                <a:solidFill>
                  <a:schemeClr val="bg1"/>
                </a:solidFill>
              </a:rPr>
              <a:t>мат. ожидания и дисперсии, отображающими распределение каждого входного класса.</a:t>
            </a:r>
          </a:p>
          <a:p>
            <a:pPr lvl="2"/>
            <a:r>
              <a:rPr lang="ru-RU" sz="2200" dirty="0">
                <a:solidFill>
                  <a:schemeClr val="bg1"/>
                </a:solidFill>
              </a:rPr>
              <a:t>Но не классы как таковые.</a:t>
            </a:r>
          </a:p>
          <a:p>
            <a:pPr lvl="2"/>
            <a:r>
              <a:rPr lang="ru-RU" sz="2200" dirty="0">
                <a:solidFill>
                  <a:schemeClr val="bg1"/>
                </a:solidFill>
              </a:rPr>
              <a:t>Такое распределение называется скрытым пространством</a:t>
            </a:r>
          </a:p>
          <a:p>
            <a:pPr lvl="3"/>
            <a:r>
              <a:rPr lang="ru-RU" sz="2200" dirty="0">
                <a:solidFill>
                  <a:schemeClr val="bg1"/>
                </a:solidFill>
              </a:rPr>
              <a:t>Скрытое пространство имеет меньшую размерность, чем основное</a:t>
            </a:r>
          </a:p>
          <a:p>
            <a:pPr lvl="2"/>
            <a:r>
              <a:rPr lang="ru-RU" sz="2200" dirty="0">
                <a:solidFill>
                  <a:schemeClr val="bg1"/>
                </a:solidFill>
              </a:rPr>
              <a:t>Суть вариационного декодера в формировании из скрытого пространства выходного изображения при помощи обученных весов.</a:t>
            </a:r>
          </a:p>
          <a:p>
            <a:endParaRPr lang="ru-RU" sz="20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8059" y="4615777"/>
            <a:ext cx="4347716" cy="186774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5" name="Прямоугольник 4"/>
          <p:cNvSpPr/>
          <p:nvPr/>
        </p:nvSpPr>
        <p:spPr>
          <a:xfrm>
            <a:off x="97628" y="1303365"/>
            <a:ext cx="11627201" cy="1677830"/>
          </a:xfrm>
          <a:prstGeom prst="rect">
            <a:avLst/>
          </a:prstGeom>
          <a:noFill/>
          <a:ln w="476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3616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8450" y="230232"/>
            <a:ext cx="11771086" cy="490066"/>
          </a:xfrm>
        </p:spPr>
        <p:txBody>
          <a:bodyPr>
            <a:noAutofit/>
          </a:bodyPr>
          <a:lstStyle/>
          <a:p>
            <a:r>
              <a:rPr lang="ru-RU" sz="4800" b="1" dirty="0">
                <a:solidFill>
                  <a:schemeClr val="bg1"/>
                </a:solidFill>
              </a:rPr>
              <a:t>Порождающие состязательные сети </a:t>
            </a:r>
            <a:r>
              <a:rPr lang="en-US" sz="4800" b="1" dirty="0">
                <a:solidFill>
                  <a:schemeClr val="bg1"/>
                </a:solidFill>
              </a:rPr>
              <a:t>(GAN)</a:t>
            </a:r>
            <a:endParaRPr lang="ru-RU" sz="4800" b="1" dirty="0">
              <a:solidFill>
                <a:schemeClr val="bg1"/>
              </a:solidFill>
            </a:endParaRPr>
          </a:p>
        </p:txBody>
      </p:sp>
      <p:sp>
        <p:nvSpPr>
          <p:cNvPr id="5" name="AutoShape 2" descr="https://smerity.com/media/images/articles/2016/gnmt_arch_deep_residuals.svg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4" descr="https://smerity.com/media/images/articles/2016/gnmt_arch_deep_residuals.svg"/>
          <p:cNvSpPr>
            <a:spLocks noChangeAspect="1" noChangeArrowheads="1"/>
          </p:cNvSpPr>
          <p:nvPr/>
        </p:nvSpPr>
        <p:spPr bwMode="auto">
          <a:xfrm>
            <a:off x="1831975" y="79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Объект 6"/>
          <p:cNvSpPr>
            <a:spLocks noGrp="1"/>
          </p:cNvSpPr>
          <p:nvPr>
            <p:ph idx="1"/>
          </p:nvPr>
        </p:nvSpPr>
        <p:spPr>
          <a:xfrm>
            <a:off x="326457" y="1033265"/>
            <a:ext cx="11661664" cy="3456384"/>
          </a:xfrm>
          <a:noFill/>
        </p:spPr>
        <p:txBody>
          <a:bodyPr>
            <a:normAutofit/>
          </a:bodyPr>
          <a:lstStyle/>
          <a:p>
            <a:r>
              <a:rPr lang="ru-RU" sz="2400" b="1" dirty="0">
                <a:solidFill>
                  <a:schemeClr val="bg1"/>
                </a:solidFill>
              </a:rPr>
              <a:t>Модель обучающаяся порождать по средствам итеративных сравнения своих результатов в тренировочными примерами.</a:t>
            </a:r>
            <a:endParaRPr lang="en-US" sz="2400" b="1" dirty="0">
              <a:solidFill>
                <a:schemeClr val="bg1"/>
              </a:solidFill>
            </a:endParaRPr>
          </a:p>
          <a:p>
            <a:r>
              <a:rPr lang="ru-RU" sz="2400" b="1" i="1" dirty="0">
                <a:solidFill>
                  <a:schemeClr val="bg1"/>
                </a:solidFill>
              </a:rPr>
              <a:t>генератор </a:t>
            </a:r>
            <a:r>
              <a:rPr lang="ru-RU" sz="2400" b="1" dirty="0">
                <a:solidFill>
                  <a:schemeClr val="bg1"/>
                </a:solidFill>
              </a:rPr>
              <a:t>(</a:t>
            </a:r>
            <a:r>
              <a:rPr lang="ru-RU" sz="2400" b="1" dirty="0" err="1">
                <a:solidFill>
                  <a:schemeClr val="bg1"/>
                </a:solidFill>
              </a:rPr>
              <a:t>generator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ru-RU" sz="2400" b="1" i="1" dirty="0">
                <a:solidFill>
                  <a:schemeClr val="bg1"/>
                </a:solidFill>
              </a:rPr>
              <a:t>G</a:t>
            </a:r>
            <a:r>
              <a:rPr lang="ru-RU" sz="2400" b="1" dirty="0">
                <a:solidFill>
                  <a:schemeClr val="bg1"/>
                </a:solidFill>
              </a:rPr>
              <a:t>)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- </a:t>
            </a:r>
            <a:r>
              <a:rPr lang="ru-RU" sz="2400" dirty="0">
                <a:solidFill>
                  <a:schemeClr val="bg1"/>
                </a:solidFill>
              </a:rPr>
              <a:t>порождает объекты в пространстве данных, 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ru-RU" sz="2400" b="1" i="1" dirty="0">
                <a:solidFill>
                  <a:schemeClr val="bg1"/>
                </a:solidFill>
              </a:rPr>
              <a:t>дискриминатор </a:t>
            </a:r>
            <a:r>
              <a:rPr lang="ru-RU" sz="2400" b="1" dirty="0">
                <a:solidFill>
                  <a:schemeClr val="bg1"/>
                </a:solidFill>
              </a:rPr>
              <a:t>(</a:t>
            </a:r>
            <a:r>
              <a:rPr lang="ru-RU" sz="2400" b="1" dirty="0" err="1">
                <a:solidFill>
                  <a:schemeClr val="bg1"/>
                </a:solidFill>
              </a:rPr>
              <a:t>discriminator</a:t>
            </a:r>
            <a:r>
              <a:rPr lang="ru-RU" sz="2400" b="1" dirty="0">
                <a:solidFill>
                  <a:schemeClr val="bg1"/>
                </a:solidFill>
              </a:rPr>
              <a:t>;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ru-RU" sz="2400" b="1" i="1" dirty="0">
                <a:solidFill>
                  <a:schemeClr val="bg1"/>
                </a:solidFill>
              </a:rPr>
              <a:t>D</a:t>
            </a:r>
            <a:r>
              <a:rPr lang="ru-RU" sz="2400" b="1" dirty="0">
                <a:solidFill>
                  <a:schemeClr val="bg1"/>
                </a:solidFill>
              </a:rPr>
              <a:t>), </a:t>
            </a:r>
            <a:r>
              <a:rPr lang="ru-RU" sz="2400" dirty="0">
                <a:solidFill>
                  <a:schemeClr val="bg1"/>
                </a:solidFill>
              </a:rPr>
              <a:t>учится отличать порожденные генератором объекты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ru-RU" sz="2400" dirty="0">
                <a:solidFill>
                  <a:schemeClr val="bg1"/>
                </a:solidFill>
              </a:rPr>
              <a:t>от настоящих примеров из обучающей выборки. </a:t>
            </a:r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5080" y="3777925"/>
            <a:ext cx="4835420" cy="25695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9" name="Прямоугольник 8"/>
          <p:cNvSpPr/>
          <p:nvPr/>
        </p:nvSpPr>
        <p:spPr>
          <a:xfrm>
            <a:off x="564800" y="1833204"/>
            <a:ext cx="10869474" cy="1224195"/>
          </a:xfrm>
          <a:prstGeom prst="rect">
            <a:avLst/>
          </a:prstGeom>
          <a:noFill/>
          <a:ln w="476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3480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8450" y="230232"/>
            <a:ext cx="11771086" cy="490066"/>
          </a:xfrm>
        </p:spPr>
        <p:txBody>
          <a:bodyPr>
            <a:noAutofit/>
          </a:bodyPr>
          <a:lstStyle/>
          <a:p>
            <a:r>
              <a:rPr lang="ru-RU" sz="4800" b="1" dirty="0">
                <a:solidFill>
                  <a:schemeClr val="bg1"/>
                </a:solidFill>
              </a:rPr>
              <a:t>Порождающие состязательные сети </a:t>
            </a:r>
            <a:r>
              <a:rPr lang="en-US" sz="4800" b="1" dirty="0">
                <a:solidFill>
                  <a:schemeClr val="bg1"/>
                </a:solidFill>
              </a:rPr>
              <a:t>(GAN)</a:t>
            </a:r>
            <a:endParaRPr lang="ru-RU" sz="4800" b="1" dirty="0">
              <a:solidFill>
                <a:schemeClr val="bg1"/>
              </a:solidFill>
            </a:endParaRPr>
          </a:p>
        </p:txBody>
      </p:sp>
      <p:sp>
        <p:nvSpPr>
          <p:cNvPr id="5" name="AutoShape 2" descr="https://smerity.com/media/images/articles/2016/gnmt_arch_deep_residuals.svg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4" descr="https://smerity.com/media/images/articles/2016/gnmt_arch_deep_residuals.svg"/>
          <p:cNvSpPr>
            <a:spLocks noChangeAspect="1" noChangeArrowheads="1"/>
          </p:cNvSpPr>
          <p:nvPr/>
        </p:nvSpPr>
        <p:spPr bwMode="auto">
          <a:xfrm>
            <a:off x="1831975" y="79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Объект 6"/>
          <p:cNvSpPr>
            <a:spLocks noGrp="1"/>
          </p:cNvSpPr>
          <p:nvPr>
            <p:ph idx="1"/>
          </p:nvPr>
        </p:nvSpPr>
        <p:spPr>
          <a:xfrm>
            <a:off x="138450" y="836712"/>
            <a:ext cx="11661664" cy="3456384"/>
          </a:xfrm>
          <a:noFill/>
        </p:spPr>
        <p:txBody>
          <a:bodyPr>
            <a:normAutofit/>
          </a:bodyPr>
          <a:lstStyle/>
          <a:p>
            <a:r>
              <a:rPr lang="ru-RU" sz="2400" b="1" dirty="0">
                <a:solidFill>
                  <a:schemeClr val="bg1"/>
                </a:solidFill>
              </a:rPr>
              <a:t>цель дискриминатора </a:t>
            </a:r>
            <a:r>
              <a:rPr lang="ru-RU" sz="2400" dirty="0">
                <a:solidFill>
                  <a:schemeClr val="bg1"/>
                </a:solidFill>
              </a:rPr>
              <a:t>—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ru-RU" sz="2400" dirty="0">
                <a:solidFill>
                  <a:schemeClr val="bg1"/>
                </a:solidFill>
              </a:rPr>
              <a:t>по заданному примеру, выглядящему как элемент пространства данных, решить, был ли он «настоящим» или был порожден генератором;</a:t>
            </a:r>
          </a:p>
          <a:p>
            <a:r>
              <a:rPr lang="ru-RU" sz="2400" b="1" dirty="0">
                <a:solidFill>
                  <a:schemeClr val="bg1"/>
                </a:solidFill>
              </a:rPr>
              <a:t>цель генератора </a:t>
            </a:r>
            <a:r>
              <a:rPr lang="ru-RU" sz="2400" dirty="0">
                <a:solidFill>
                  <a:schemeClr val="bg1"/>
                </a:solidFill>
              </a:rPr>
              <a:t>— «обмануть» дискриминатор, сделать так, что дискриминатор не сможет различить распределение данных и распределение,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ru-RU" sz="2400" dirty="0">
                <a:solidFill>
                  <a:schemeClr val="bg1"/>
                </a:solidFill>
              </a:rPr>
              <a:t>которое порождает генератор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ru-RU" sz="2400" dirty="0">
                <a:solidFill>
                  <a:schemeClr val="bg1"/>
                </a:solidFill>
              </a:rPr>
              <a:t>Таким образом обучение </a:t>
            </a:r>
            <a:r>
              <a:rPr lang="en-US" sz="2400" dirty="0">
                <a:solidFill>
                  <a:schemeClr val="bg1"/>
                </a:solidFill>
              </a:rPr>
              <a:t>GAN </a:t>
            </a:r>
            <a:r>
              <a:rPr lang="ru-RU" sz="2400" dirty="0">
                <a:solidFill>
                  <a:schemeClr val="bg1"/>
                </a:solidFill>
              </a:rPr>
              <a:t>представляет собой минимаксную задачу</a:t>
            </a:r>
            <a:r>
              <a:rPr lang="en-US" sz="2400" dirty="0">
                <a:solidFill>
                  <a:schemeClr val="bg1"/>
                </a:solidFill>
              </a:rPr>
              <a:t>:</a:t>
            </a:r>
            <a:r>
              <a:rPr lang="ru-RU" sz="2400" dirty="0">
                <a:solidFill>
                  <a:schemeClr val="bg1"/>
                </a:solidFill>
              </a:rPr>
              <a:t> </a:t>
            </a:r>
            <a:endParaRPr lang="en-US" sz="2400" dirty="0">
              <a:solidFill>
                <a:schemeClr val="bg1"/>
              </a:solidFill>
            </a:endParaRPr>
          </a:p>
          <a:p>
            <a:pPr lvl="1"/>
            <a:r>
              <a:rPr lang="ru-RU" dirty="0">
                <a:solidFill>
                  <a:schemeClr val="bg1"/>
                </a:solidFill>
              </a:rPr>
              <a:t>Минимизация ошибки генератора при максимизации вероятности найти ошибку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со стороны дискриминатора. </a:t>
            </a:r>
            <a:endParaRPr lang="en-US" dirty="0">
              <a:solidFill>
                <a:schemeClr val="bg1"/>
              </a:solidFill>
            </a:endParaRPr>
          </a:p>
          <a:p>
            <a:endParaRPr lang="ru-RU" sz="2400" dirty="0">
              <a:solidFill>
                <a:schemeClr val="bg1"/>
              </a:solidFill>
            </a:endParaRPr>
          </a:p>
          <a:p>
            <a:endParaRPr lang="ru-RU" sz="2400" dirty="0">
              <a:solidFill>
                <a:schemeClr val="bg1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6467" y="4145394"/>
            <a:ext cx="4835420" cy="25695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9" name="Прямоугольник 8"/>
          <p:cNvSpPr/>
          <p:nvPr/>
        </p:nvSpPr>
        <p:spPr>
          <a:xfrm>
            <a:off x="138450" y="3009323"/>
            <a:ext cx="11586380" cy="1224195"/>
          </a:xfrm>
          <a:prstGeom prst="rect">
            <a:avLst/>
          </a:prstGeom>
          <a:noFill/>
          <a:ln w="476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8588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8450" y="230232"/>
            <a:ext cx="11771086" cy="490066"/>
          </a:xfrm>
        </p:spPr>
        <p:txBody>
          <a:bodyPr>
            <a:noAutofit/>
          </a:bodyPr>
          <a:lstStyle/>
          <a:p>
            <a:pPr algn="ctr"/>
            <a:r>
              <a:rPr lang="ru-RU" sz="4800" b="1" dirty="0">
                <a:solidFill>
                  <a:schemeClr val="bg1"/>
                </a:solidFill>
              </a:rPr>
              <a:t>Некоторые типы </a:t>
            </a:r>
            <a:r>
              <a:rPr lang="en-US" sz="4800" b="1" dirty="0">
                <a:solidFill>
                  <a:schemeClr val="bg1"/>
                </a:solidFill>
              </a:rPr>
              <a:t>GAN</a:t>
            </a:r>
            <a:endParaRPr lang="ru-RU" sz="4800" b="1" dirty="0">
              <a:solidFill>
                <a:schemeClr val="bg1"/>
              </a:solidFill>
            </a:endParaRPr>
          </a:p>
        </p:txBody>
      </p:sp>
      <p:sp>
        <p:nvSpPr>
          <p:cNvPr id="5" name="AutoShape 2" descr="https://smerity.com/media/images/articles/2016/gnmt_arch_deep_residuals.svg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4" descr="https://smerity.com/media/images/articles/2016/gnmt_arch_deep_residuals.svg"/>
          <p:cNvSpPr>
            <a:spLocks noChangeAspect="1" noChangeArrowheads="1"/>
          </p:cNvSpPr>
          <p:nvPr/>
        </p:nvSpPr>
        <p:spPr bwMode="auto">
          <a:xfrm>
            <a:off x="1831975" y="79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Объект 6"/>
          <p:cNvSpPr>
            <a:spLocks noGrp="1"/>
          </p:cNvSpPr>
          <p:nvPr>
            <p:ph idx="1"/>
          </p:nvPr>
        </p:nvSpPr>
        <p:spPr>
          <a:xfrm>
            <a:off x="138450" y="836712"/>
            <a:ext cx="11661664" cy="3456384"/>
          </a:xfrm>
          <a:noFill/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b="1" dirty="0">
                <a:solidFill>
                  <a:schemeClr val="bg1"/>
                </a:solidFill>
              </a:rPr>
              <a:t>Без учителя </a:t>
            </a:r>
            <a:r>
              <a:rPr lang="en-US" sz="2200" dirty="0">
                <a:solidFill>
                  <a:schemeClr val="bg1"/>
                </a:solidFill>
              </a:rPr>
              <a:t>(GAN, Deep Convolution GAN (DCGAN)</a:t>
            </a:r>
            <a:r>
              <a:rPr lang="ru-RU" sz="2200" dirty="0">
                <a:solidFill>
                  <a:schemeClr val="bg1"/>
                </a:solidFill>
              </a:rPr>
              <a:t>, </a:t>
            </a:r>
            <a:r>
              <a:rPr lang="ru-RU" sz="2200" dirty="0" err="1">
                <a:solidFill>
                  <a:schemeClr val="bg1"/>
                </a:solidFill>
              </a:rPr>
              <a:t>W</a:t>
            </a:r>
            <a:r>
              <a:rPr lang="en-US" sz="2200" dirty="0">
                <a:solidFill>
                  <a:schemeClr val="bg1"/>
                </a:solidFill>
              </a:rPr>
              <a:t>GAN)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b="1" dirty="0" err="1">
                <a:solidFill>
                  <a:schemeClr val="bg1"/>
                </a:solidFill>
              </a:rPr>
              <a:t>Полуконтролируемое</a:t>
            </a:r>
            <a:r>
              <a:rPr lang="ru-RU" sz="2200" b="1" dirty="0">
                <a:solidFill>
                  <a:schemeClr val="bg1"/>
                </a:solidFill>
              </a:rPr>
              <a:t> обучение </a:t>
            </a:r>
            <a:endParaRPr lang="en-US" sz="2200" b="1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200" dirty="0">
                <a:solidFill>
                  <a:schemeClr val="bg1"/>
                </a:solidFill>
              </a:rPr>
              <a:t>Conditional GAN – </a:t>
            </a:r>
            <a:r>
              <a:rPr lang="ru-RU" sz="2200" dirty="0">
                <a:solidFill>
                  <a:schemeClr val="bg1"/>
                </a:solidFill>
              </a:rPr>
              <a:t>обучение </a:t>
            </a:r>
            <a:r>
              <a:rPr lang="ru-RU" sz="2200" dirty="0" err="1">
                <a:solidFill>
                  <a:schemeClr val="bg1"/>
                </a:solidFill>
              </a:rPr>
              <a:t>дискреминатора</a:t>
            </a:r>
            <a:r>
              <a:rPr lang="ru-RU" sz="2200" dirty="0">
                <a:solidFill>
                  <a:schemeClr val="bg1"/>
                </a:solidFill>
              </a:rPr>
              <a:t> и генератора с меткой класса.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200" dirty="0" err="1">
                <a:solidFill>
                  <a:schemeClr val="bg1"/>
                </a:solidFill>
              </a:rPr>
              <a:t>InfoGAN</a:t>
            </a:r>
            <a:r>
              <a:rPr lang="en-US" sz="2200" dirty="0">
                <a:solidFill>
                  <a:schemeClr val="bg1"/>
                </a:solidFill>
              </a:rPr>
              <a:t> – </a:t>
            </a:r>
            <a:r>
              <a:rPr lang="ru-RU" sz="2200" dirty="0">
                <a:solidFill>
                  <a:schemeClr val="bg1"/>
                </a:solidFill>
              </a:rPr>
              <a:t>генератор получает метку класса, должен выучить ее классификацию самостоятельно.</a:t>
            </a:r>
          </a:p>
          <a:p>
            <a:pPr lvl="2">
              <a:lnSpc>
                <a:spcPct val="100000"/>
              </a:lnSpc>
              <a:spcBef>
                <a:spcPts val="0"/>
              </a:spcBef>
            </a:pPr>
            <a:r>
              <a:rPr lang="ru-RU" sz="2200" dirty="0">
                <a:solidFill>
                  <a:schemeClr val="bg1"/>
                </a:solidFill>
              </a:rPr>
              <a:t>Под меткой класса может быть не только традиционный класс объекта, но и некоторые его семантические особенности, например цвет глаз, размер </a:t>
            </a:r>
            <a:r>
              <a:rPr lang="ru-RU" sz="2200" dirty="0" err="1">
                <a:solidFill>
                  <a:schemeClr val="bg1"/>
                </a:solidFill>
              </a:rPr>
              <a:t>объетка</a:t>
            </a:r>
            <a:r>
              <a:rPr lang="ru-RU" sz="2200" dirty="0">
                <a:solidFill>
                  <a:schemeClr val="bg1"/>
                </a:solidFill>
              </a:rPr>
              <a:t>.</a:t>
            </a:r>
            <a:endParaRPr lang="en-US" sz="2200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b="1" dirty="0">
                <a:solidFill>
                  <a:schemeClr val="bg1"/>
                </a:solidFill>
              </a:rPr>
              <a:t>Перенос изображений </a:t>
            </a:r>
            <a:r>
              <a:rPr lang="en-US" sz="2200" dirty="0">
                <a:solidFill>
                  <a:schemeClr val="bg1"/>
                </a:solidFill>
              </a:rPr>
              <a:t>(Image 2 Image translation)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200" dirty="0" err="1">
                <a:solidFill>
                  <a:schemeClr val="bg1"/>
                </a:solidFill>
              </a:rPr>
              <a:t>CycleGan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ru-RU" sz="2200" dirty="0">
                <a:solidFill>
                  <a:schemeClr val="bg1"/>
                </a:solidFill>
              </a:rPr>
              <a:t>(обучение на основе изображений двух категорий)</a:t>
            </a:r>
            <a:endParaRPr lang="en-US" sz="2200" dirty="0">
              <a:solidFill>
                <a:schemeClr val="bg1"/>
              </a:solidFill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532792A0-986F-5443-ABF5-48A32EFFA2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118" y="3959830"/>
            <a:ext cx="11379750" cy="2788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8" name="Прямоугольник 7"/>
          <p:cNvSpPr/>
          <p:nvPr/>
        </p:nvSpPr>
        <p:spPr>
          <a:xfrm>
            <a:off x="138450" y="841116"/>
            <a:ext cx="7518582" cy="782585"/>
          </a:xfrm>
          <a:prstGeom prst="rect">
            <a:avLst/>
          </a:prstGeom>
          <a:noFill/>
          <a:ln w="476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138450" y="3231319"/>
            <a:ext cx="8236429" cy="728512"/>
          </a:xfrm>
          <a:prstGeom prst="rect">
            <a:avLst/>
          </a:prstGeom>
          <a:noFill/>
          <a:ln w="476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" name="Прямая со стрелкой 3"/>
          <p:cNvCxnSpPr/>
          <p:nvPr/>
        </p:nvCxnSpPr>
        <p:spPr>
          <a:xfrm flipH="1" flipV="1">
            <a:off x="2768837" y="5700045"/>
            <a:ext cx="1324599" cy="7093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8460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11553371" cy="490066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</a:rPr>
              <a:t>GAN</a:t>
            </a:r>
            <a:r>
              <a:rPr lang="ru-RU" sz="4800" b="1" dirty="0">
                <a:solidFill>
                  <a:schemeClr val="bg1"/>
                </a:solidFill>
              </a:rPr>
              <a:t>. Обучение</a:t>
            </a:r>
          </a:p>
        </p:txBody>
      </p:sp>
      <p:sp>
        <p:nvSpPr>
          <p:cNvPr id="5" name="AutoShape 2" descr="https://smerity.com/media/images/articles/2016/gnmt_arch_deep_residuals.svg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4" descr="https://smerity.com/media/images/articles/2016/gnmt_arch_deep_residuals.svg"/>
          <p:cNvSpPr>
            <a:spLocks noChangeAspect="1" noChangeArrowheads="1"/>
          </p:cNvSpPr>
          <p:nvPr/>
        </p:nvSpPr>
        <p:spPr bwMode="auto">
          <a:xfrm>
            <a:off x="1831975" y="79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Объект 6"/>
              <p:cNvSpPr>
                <a:spLocks noGrp="1"/>
              </p:cNvSpPr>
              <p:nvPr>
                <p:ph idx="1"/>
              </p:nvPr>
            </p:nvSpPr>
            <p:spPr>
              <a:xfrm>
                <a:off x="188685" y="3051954"/>
                <a:ext cx="11553371" cy="353140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ru-RU" sz="2200" dirty="0">
                    <a:solidFill>
                      <a:schemeClr val="bg1"/>
                    </a:solidFill>
                  </a:rPr>
                  <a:t>(a)</a:t>
                </a:r>
                <a:r>
                  <a:rPr lang="en-US" sz="22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chemeClr val="bg1"/>
                            </a:solidFill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2200" i="1">
                            <a:solidFill>
                              <a:schemeClr val="bg1"/>
                            </a:solidFill>
                            <a:latin typeface="Cambria Math"/>
                          </a:rPr>
                          <m:t>𝑑𝑎𝑡𝑎</m:t>
                        </m:r>
                      </m:sub>
                    </m:sSub>
                  </m:oMath>
                </a14:m>
                <a:r>
                  <a:rPr lang="ru-RU" sz="2200" dirty="0">
                    <a:solidFill>
                      <a:schemeClr val="bg1"/>
                    </a:solidFill>
                  </a:rPr>
                  <a:t>  и</a:t>
                </a:r>
                <a:r>
                  <a:rPr lang="en-US" sz="22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chemeClr val="bg1"/>
                            </a:solidFill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2200" i="1">
                            <a:solidFill>
                              <a:schemeClr val="bg1"/>
                            </a:solidFill>
                            <a:latin typeface="Cambria Math"/>
                          </a:rPr>
                          <m:t>𝑔𝑒𝑛</m:t>
                        </m:r>
                      </m:sub>
                    </m:sSub>
                  </m:oMath>
                </a14:m>
                <a:r>
                  <a:rPr lang="ru-RU" sz="2200" dirty="0">
                    <a:solidFill>
                      <a:schemeClr val="bg1"/>
                    </a:solidFill>
                  </a:rPr>
                  <a:t>  разные, но дискриминатор неуверенно отличает их,</a:t>
                </a:r>
                <a:br>
                  <a:rPr lang="ru-RU" sz="2200" dirty="0">
                    <a:solidFill>
                      <a:schemeClr val="bg1"/>
                    </a:solidFill>
                  </a:rPr>
                </a:br>
                <a:r>
                  <a:rPr lang="ru-RU" sz="2200" dirty="0">
                    <a:solidFill>
                      <a:schemeClr val="bg1"/>
                    </a:solidFill>
                  </a:rPr>
                  <a:t>(b) дискриминатор после k шагов обучения </a:t>
                </a:r>
                <a:r>
                  <a:rPr lang="en-US" sz="2200" dirty="0">
                    <a:solidFill>
                      <a:schemeClr val="bg1"/>
                    </a:solidFill>
                  </a:rPr>
                  <a:t>- </a:t>
                </a:r>
                <a:r>
                  <a:rPr lang="ru-RU" sz="2200" dirty="0">
                    <a:solidFill>
                      <a:schemeClr val="bg1"/>
                    </a:solidFill>
                  </a:rPr>
                  <a:t>отличает увереннее,</a:t>
                </a:r>
                <a:br>
                  <a:rPr lang="ru-RU" sz="2200" dirty="0">
                    <a:solidFill>
                      <a:schemeClr val="bg1"/>
                    </a:solidFill>
                  </a:rPr>
                </a:br>
                <a:r>
                  <a:rPr lang="ru-RU" sz="2200" dirty="0">
                    <a:solidFill>
                      <a:schemeClr val="bg1"/>
                    </a:solidFill>
                  </a:rPr>
                  <a:t>(с) генератор </a:t>
                </a:r>
                <a:r>
                  <a:rPr lang="en-US" sz="2200" dirty="0">
                    <a:solidFill>
                      <a:schemeClr val="bg1"/>
                    </a:solidFill>
                  </a:rPr>
                  <a:t>G</a:t>
                </a:r>
                <a:r>
                  <a:rPr lang="ru-RU" sz="2200" dirty="0">
                    <a:solidFill>
                      <a:schemeClr val="bg1"/>
                    </a:solidFill>
                  </a:rPr>
                  <a:t>, обучается, то есть подвигает </a:t>
                </a:r>
                <a:r>
                  <a:rPr lang="en-US" sz="22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chemeClr val="bg1"/>
                            </a:solidFill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2200" i="1">
                            <a:solidFill>
                              <a:schemeClr val="bg1"/>
                            </a:solidFill>
                            <a:latin typeface="Cambria Math"/>
                          </a:rPr>
                          <m:t>𝑔𝑒𝑛</m:t>
                        </m:r>
                      </m:sub>
                    </m:sSub>
                    <m:r>
                      <a:rPr lang="en-US" sz="2200" i="1">
                        <a:solidFill>
                          <a:schemeClr val="bg1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ru-RU" sz="2200" dirty="0">
                    <a:solidFill>
                      <a:schemeClr val="bg1"/>
                    </a:solidFill>
                  </a:rPr>
                  <a:t> ближе к </a:t>
                </a:r>
                <a:r>
                  <a:rPr lang="en-US" sz="22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chemeClr val="bg1"/>
                            </a:solidFill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2200" i="1">
                            <a:solidFill>
                              <a:schemeClr val="bg1"/>
                            </a:solidFill>
                            <a:latin typeface="Cambria Math"/>
                          </a:rPr>
                          <m:t>𝑑𝑎𝑡𝑎</m:t>
                        </m:r>
                      </m:sub>
                    </m:sSub>
                  </m:oMath>
                </a14:m>
                <a:r>
                  <a:rPr lang="ru-RU" sz="2200" dirty="0">
                    <a:solidFill>
                      <a:schemeClr val="bg1"/>
                    </a:solidFill>
                  </a:rPr>
                  <a:t>,</a:t>
                </a:r>
                <a:br>
                  <a:rPr lang="ru-RU" sz="2200" dirty="0">
                    <a:solidFill>
                      <a:schemeClr val="bg1"/>
                    </a:solidFill>
                  </a:rPr>
                </a:br>
                <a:r>
                  <a:rPr lang="ru-RU" sz="2200" dirty="0">
                    <a:solidFill>
                      <a:schemeClr val="bg1"/>
                    </a:solidFill>
                  </a:rPr>
                  <a:t>(d) в результате повторений шагов (а), (b), (с)  </a:t>
                </a:r>
                <a:r>
                  <a:rPr lang="en-US" sz="22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chemeClr val="bg1"/>
                            </a:solidFill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2200" i="1">
                            <a:solidFill>
                              <a:schemeClr val="bg1"/>
                            </a:solidFill>
                            <a:latin typeface="Cambria Math"/>
                          </a:rPr>
                          <m:t>𝑔𝑒𝑛</m:t>
                        </m:r>
                      </m:sub>
                    </m:sSub>
                    <m:r>
                      <a:rPr lang="en-US" sz="2200" i="1">
                        <a:solidFill>
                          <a:schemeClr val="bg1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200" dirty="0">
                    <a:solidFill>
                      <a:schemeClr val="bg1"/>
                    </a:solidFill>
                  </a:rPr>
                  <a:t> </a:t>
                </a:r>
                <a:r>
                  <a:rPr lang="ru-RU" sz="2200" dirty="0">
                    <a:solidFill>
                      <a:schemeClr val="bg1"/>
                    </a:solidFill>
                  </a:rPr>
                  <a:t>совпало с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chemeClr val="bg1"/>
                            </a:solidFill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2200" i="1">
                            <a:solidFill>
                              <a:schemeClr val="bg1"/>
                            </a:solidFill>
                            <a:latin typeface="Cambria Math"/>
                          </a:rPr>
                          <m:t>𝑑𝑎𝑡𝑎</m:t>
                        </m:r>
                      </m:sub>
                    </m:sSub>
                  </m:oMath>
                </a14:m>
                <a:r>
                  <a:rPr lang="ru-RU" sz="2200" dirty="0">
                    <a:solidFill>
                      <a:schemeClr val="bg1"/>
                    </a:solidFill>
                  </a:rPr>
                  <a:t>, и дискриминатор не способен отличать одно от другого:</a:t>
                </a:r>
                <a:r>
                  <a:rPr lang="en-US" sz="22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schemeClr val="bg1"/>
                        </a:solidFill>
                        <a:latin typeface="Cambria Math"/>
                      </a:rPr>
                      <m:t>𝐷</m:t>
                    </m:r>
                    <m:r>
                      <a:rPr lang="en-US" sz="2200" i="1">
                        <a:solidFill>
                          <a:schemeClr val="bg1"/>
                        </a:solidFill>
                        <a:latin typeface="Cambria Math"/>
                      </a:rPr>
                      <m:t>=1/2</m:t>
                    </m:r>
                  </m:oMath>
                </a14:m>
                <a:r>
                  <a:rPr lang="ru-RU" sz="2200" dirty="0">
                    <a:solidFill>
                      <a:schemeClr val="bg1"/>
                    </a:solidFill>
                  </a:rPr>
                  <a:t> . </a:t>
                </a:r>
              </a:p>
              <a:p>
                <a:r>
                  <a:rPr lang="ru-RU" sz="1900" i="1" u="sng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Обозначения:</a:t>
                </a:r>
              </a:p>
              <a:p>
                <a:pPr lvl="1"/>
                <a:r>
                  <a:rPr lang="ru-RU" sz="1800" dirty="0">
                    <a:solidFill>
                      <a:schemeClr val="bg1"/>
                    </a:solidFill>
                  </a:rPr>
                  <a:t>черная точечная кривая — настоящее распределение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chemeClr val="bg1"/>
                            </a:solidFill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1800" i="1">
                            <a:solidFill>
                              <a:schemeClr val="bg1"/>
                            </a:solidFill>
                            <a:latin typeface="Cambria Math"/>
                          </a:rPr>
                          <m:t>𝑑𝑎𝑡𝑎</m:t>
                        </m:r>
                      </m:sub>
                    </m:sSub>
                    <m:r>
                      <a:rPr lang="en-US" sz="1800" i="1">
                        <a:solidFill>
                          <a:schemeClr val="bg1"/>
                        </a:solidFill>
                        <a:latin typeface="Cambria Math"/>
                      </a:rPr>
                      <m:t>(</m:t>
                    </m:r>
                    <m:r>
                      <a:rPr lang="en-US" sz="1800" i="1">
                        <a:solidFill>
                          <a:schemeClr val="bg1"/>
                        </a:solidFill>
                        <a:latin typeface="Cambria Math"/>
                      </a:rPr>
                      <m:t>𝑋</m:t>
                    </m:r>
                    <m:r>
                      <a:rPr lang="en-US" sz="1800" i="1">
                        <a:solidFill>
                          <a:schemeClr val="bg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ru-RU" sz="1800" dirty="0">
                    <a:solidFill>
                      <a:schemeClr val="bg1"/>
                    </a:solidFill>
                  </a:rPr>
                  <a:t> ,</a:t>
                </a:r>
              </a:p>
              <a:p>
                <a:pPr lvl="1"/>
                <a:r>
                  <a:rPr lang="ru-RU" sz="1800" dirty="0">
                    <a:solidFill>
                      <a:schemeClr val="bg1"/>
                    </a:solidFill>
                  </a:rPr>
                  <a:t>зеленая — распределение генератора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chemeClr val="bg1"/>
                            </a:solidFill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1800" i="1">
                            <a:solidFill>
                              <a:schemeClr val="bg1"/>
                            </a:solidFill>
                            <a:latin typeface="Cambria Math"/>
                          </a:rPr>
                          <m:t>𝑔𝑒𝑛</m:t>
                        </m:r>
                      </m:sub>
                    </m:sSub>
                    <m:r>
                      <a:rPr lang="en-US" sz="1800" i="1">
                        <a:solidFill>
                          <a:schemeClr val="bg1"/>
                        </a:solidFill>
                        <a:latin typeface="Cambria Math"/>
                      </a:rPr>
                      <m:t>(</m:t>
                    </m:r>
                    <m:r>
                      <a:rPr lang="en-US" sz="1800" i="1">
                        <a:solidFill>
                          <a:schemeClr val="bg1"/>
                        </a:solidFill>
                        <a:latin typeface="Cambria Math"/>
                      </a:rPr>
                      <m:t>𝑋</m:t>
                    </m:r>
                    <m:r>
                      <a:rPr lang="en-US" sz="1800" i="1">
                        <a:solidFill>
                          <a:schemeClr val="bg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ru-RU" sz="1800" dirty="0">
                    <a:solidFill>
                      <a:schemeClr val="bg1"/>
                    </a:solidFill>
                  </a:rPr>
                  <a:t>,</a:t>
                </a:r>
              </a:p>
              <a:p>
                <a:pPr lvl="1"/>
                <a:r>
                  <a:rPr lang="ru-RU" sz="2200" b="1" u="sng" dirty="0">
                    <a:solidFill>
                      <a:schemeClr val="bg1"/>
                    </a:solidFill>
                  </a:rPr>
                  <a:t>синяя — распределение вероятности</a:t>
                </a:r>
                <a:r>
                  <a:rPr lang="en-US" sz="2200" b="1" u="sng" dirty="0">
                    <a:solidFill>
                      <a:schemeClr val="bg1"/>
                    </a:solidFill>
                  </a:rPr>
                  <a:t> </a:t>
                </a:r>
                <a:r>
                  <a:rPr lang="ru-RU" sz="2200" b="1" u="sng" dirty="0">
                    <a:solidFill>
                      <a:schemeClr val="bg1"/>
                    </a:solidFill>
                  </a:rPr>
                  <a:t> дискриминатора предсказать класс реального объекта</a:t>
                </a:r>
                <a:r>
                  <a:rPr lang="en-US" sz="2200" b="1" u="sng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b="1" i="1" u="sng">
                        <a:solidFill>
                          <a:schemeClr val="bg1"/>
                        </a:solidFill>
                        <a:latin typeface="Cambria Math"/>
                      </a:rPr>
                      <m:t>𝑫</m:t>
                    </m:r>
                    <m:r>
                      <a:rPr lang="en-US" sz="2200" b="1" i="1" u="sng">
                        <a:solidFill>
                          <a:schemeClr val="bg1"/>
                        </a:solidFill>
                        <a:latin typeface="Cambria Math"/>
                      </a:rPr>
                      <m:t>(</m:t>
                    </m:r>
                    <m:r>
                      <a:rPr lang="en-US" sz="2200" b="1" i="1" u="sng">
                        <a:solidFill>
                          <a:schemeClr val="bg1"/>
                        </a:solidFill>
                        <a:latin typeface="Cambria Math"/>
                      </a:rPr>
                      <m:t>𝑿</m:t>
                    </m:r>
                    <m:r>
                      <a:rPr lang="en-US" sz="2200" b="1" i="1" u="sng">
                        <a:solidFill>
                          <a:schemeClr val="bg1"/>
                        </a:solidFill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200" b="1" i="1" u="sng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u="sng">
                            <a:solidFill>
                              <a:schemeClr val="bg1"/>
                            </a:solidFill>
                            <a:latin typeface="Cambria Math"/>
                          </a:rPr>
                          <m:t>𝜽</m:t>
                        </m:r>
                      </m:e>
                      <m:sub>
                        <m:r>
                          <a:rPr lang="en-US" sz="2200" b="1" i="1" u="sng">
                            <a:solidFill>
                              <a:schemeClr val="bg1"/>
                            </a:solidFill>
                            <a:latin typeface="Cambria Math"/>
                          </a:rPr>
                          <m:t>𝒅</m:t>
                        </m:r>
                      </m:sub>
                    </m:sSub>
                    <m:r>
                      <a:rPr lang="en-US" sz="2200" b="1" i="1" u="sng">
                        <a:solidFill>
                          <a:schemeClr val="bg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ru-RU" sz="2200" b="1" u="sng" dirty="0">
                    <a:solidFill>
                      <a:schemeClr val="bg1"/>
                    </a:solidFill>
                  </a:rPr>
                  <a:t>,</a:t>
                </a:r>
              </a:p>
              <a:p>
                <a:pPr lvl="1"/>
                <a:r>
                  <a:rPr lang="ru-RU" sz="1800" dirty="0">
                    <a:solidFill>
                      <a:schemeClr val="bg1"/>
                    </a:solidFill>
                  </a:rPr>
                  <a:t>нижняя и верхняя прямые — множество всех </a:t>
                </a:r>
                <a:r>
                  <a:rPr lang="en-US" sz="1800" dirty="0">
                    <a:solidFill>
                      <a:schemeClr val="bg1"/>
                    </a:solidFill>
                  </a:rPr>
                  <a:t> Z</a:t>
                </a:r>
                <a:r>
                  <a:rPr lang="ru-RU" sz="1800" dirty="0">
                    <a:solidFill>
                      <a:schemeClr val="bg1"/>
                    </a:solidFill>
                  </a:rPr>
                  <a:t> и множество всех</a:t>
                </a:r>
                <a:r>
                  <a:rPr lang="en-US" sz="1800" dirty="0">
                    <a:solidFill>
                      <a:schemeClr val="bg1"/>
                    </a:solidFill>
                  </a:rPr>
                  <a:t> X</a:t>
                </a:r>
                <a:r>
                  <a:rPr lang="ru-RU" sz="1800" dirty="0">
                    <a:solidFill>
                      <a:schemeClr val="bg1"/>
                    </a:solidFill>
                  </a:rPr>
                  <a:t> , стрелочки олицетворяют отображение 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bg1"/>
                        </a:solidFill>
                        <a:latin typeface="Cambria Math"/>
                      </a:rPr>
                      <m:t>𝐺</m:t>
                    </m:r>
                    <m:d>
                      <m:dPr>
                        <m:ctrlPr>
                          <a:rPr lang="en-US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chemeClr val="bg1"/>
                            </a:solidFill>
                            <a:latin typeface="Cambria Math"/>
                          </a:rPr>
                          <m:t>𝑍</m:t>
                        </m:r>
                        <m:r>
                          <a:rPr lang="en-US" sz="1800" i="1">
                            <a:solidFill>
                              <a:schemeClr val="bg1"/>
                            </a:solidFill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1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chemeClr val="bg1"/>
                                </a:solidFill>
                                <a:latin typeface="Cambria Math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chemeClr val="bg1"/>
                                </a:solidFill>
                                <a:latin typeface="Cambria Math"/>
                              </a:rPr>
                              <m:t>𝑔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1800" dirty="0">
                    <a:solidFill>
                      <a:schemeClr val="bg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7" name="Объект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8685" y="3051954"/>
                <a:ext cx="11553371" cy="3531408"/>
              </a:xfrm>
              <a:blipFill>
                <a:blip r:embed="rId2"/>
                <a:stretch>
                  <a:fillRect l="-549" t="-250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3107" y="879004"/>
            <a:ext cx="6535491" cy="205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92778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6743" y="274638"/>
            <a:ext cx="11582400" cy="922114"/>
          </a:xfrm>
        </p:spPr>
        <p:txBody>
          <a:bodyPr>
            <a:noAutofit/>
          </a:bodyPr>
          <a:lstStyle/>
          <a:p>
            <a:pPr algn="ctr"/>
            <a:r>
              <a:rPr lang="ru-RU" sz="4800" b="1" dirty="0">
                <a:solidFill>
                  <a:schemeClr val="bg1"/>
                </a:solidFill>
              </a:rPr>
              <a:t>Соревновательный </a:t>
            </a:r>
            <a:r>
              <a:rPr lang="ru-RU" sz="4800" b="1" dirty="0" err="1">
                <a:solidFill>
                  <a:schemeClr val="bg1"/>
                </a:solidFill>
              </a:rPr>
              <a:t>автоэенкодер</a:t>
            </a:r>
            <a:endParaRPr lang="ru-RU" sz="4800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" y="1268760"/>
            <a:ext cx="11829142" cy="5400600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Обычный </a:t>
            </a:r>
            <a:r>
              <a:rPr lang="ru-RU" sz="2400" dirty="0" err="1">
                <a:solidFill>
                  <a:schemeClr val="bg1"/>
                </a:solidFill>
              </a:rPr>
              <a:t>автоэенкодер</a:t>
            </a:r>
            <a:r>
              <a:rPr lang="ru-RU" sz="2400" dirty="0">
                <a:solidFill>
                  <a:schemeClr val="bg1"/>
                </a:solidFill>
              </a:rPr>
              <a:t> (сверху) +</a:t>
            </a:r>
          </a:p>
          <a:p>
            <a:r>
              <a:rPr lang="ru-RU" sz="2400" dirty="0">
                <a:solidFill>
                  <a:schemeClr val="bg1"/>
                </a:solidFill>
              </a:rPr>
              <a:t> результаты кодировки накладываются на нормальное распределение</a:t>
            </a:r>
          </a:p>
          <a:p>
            <a:r>
              <a:rPr lang="ru-RU" sz="2400" dirty="0">
                <a:solidFill>
                  <a:schemeClr val="bg1"/>
                </a:solidFill>
              </a:rPr>
              <a:t>Задача дискриминатора – различать примеры из исходного распределения  и примеры из распределения, генерируемого </a:t>
            </a:r>
            <a:r>
              <a:rPr lang="ru-RU" sz="2400" dirty="0" err="1">
                <a:solidFill>
                  <a:schemeClr val="bg1"/>
                </a:solidFill>
              </a:rPr>
              <a:t>энкодером</a:t>
            </a:r>
            <a:r>
              <a:rPr lang="ru-RU" sz="2400" dirty="0">
                <a:solidFill>
                  <a:schemeClr val="bg1"/>
                </a:solidFill>
              </a:rPr>
              <a:t> .</a:t>
            </a:r>
          </a:p>
          <a:p>
            <a:r>
              <a:rPr lang="ru-RU" sz="2400" dirty="0">
                <a:solidFill>
                  <a:schemeClr val="bg1"/>
                </a:solidFill>
              </a:rPr>
              <a:t>Таким образом кодировщик выучивает неявное априорное распределение, или же говорят, что задан </a:t>
            </a:r>
            <a:r>
              <a:rPr lang="ru-RU" sz="2400" dirty="0" err="1">
                <a:solidFill>
                  <a:schemeClr val="bg1"/>
                </a:solidFill>
              </a:rPr>
              <a:t>implicit</a:t>
            </a:r>
            <a:r>
              <a:rPr lang="ru-RU" sz="2400" dirty="0">
                <a:solidFill>
                  <a:schemeClr val="bg1"/>
                </a:solidFill>
              </a:rPr>
              <a:t> </a:t>
            </a:r>
            <a:r>
              <a:rPr lang="ru-RU" sz="2400" dirty="0" err="1">
                <a:solidFill>
                  <a:schemeClr val="bg1"/>
                </a:solidFill>
              </a:rPr>
              <a:t>prior</a:t>
            </a:r>
            <a:r>
              <a:rPr lang="ru-RU" sz="2400" dirty="0">
                <a:solidFill>
                  <a:schemeClr val="bg1"/>
                </a:solidFill>
              </a:rPr>
              <a:t>, который как бы закодирован внутри сети, но мы не можем получить его форму аналитически.</a:t>
            </a:r>
          </a:p>
        </p:txBody>
      </p:sp>
      <p:pic>
        <p:nvPicPr>
          <p:cNvPr id="4" name="Picture 2" descr="https://habrastorage.org/web/2bd/47e/212/2bd47e212c374696a8aafa77127208d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4572" y="3905672"/>
            <a:ext cx="5767337" cy="2952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Related imag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0" y="4021640"/>
            <a:ext cx="2588918" cy="2719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74831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5714" y="299442"/>
            <a:ext cx="10537372" cy="1350631"/>
          </a:xfrm>
        </p:spPr>
        <p:txBody>
          <a:bodyPr>
            <a:noAutofit/>
          </a:bodyPr>
          <a:lstStyle/>
          <a:p>
            <a:r>
              <a:rPr lang="ru-RU" sz="4800" b="1" dirty="0">
                <a:solidFill>
                  <a:schemeClr val="bg1"/>
                </a:solidFill>
              </a:rPr>
              <a:t>Порождающие состязательные сети </a:t>
            </a:r>
            <a:r>
              <a:rPr lang="en-US" sz="4800" b="1" dirty="0">
                <a:solidFill>
                  <a:schemeClr val="bg1"/>
                </a:solidFill>
              </a:rPr>
              <a:t>(GAN)</a:t>
            </a:r>
            <a:r>
              <a:rPr lang="ru-RU" sz="4800" b="1" dirty="0">
                <a:solidFill>
                  <a:schemeClr val="bg1"/>
                </a:solidFill>
              </a:rPr>
              <a:t>. </a:t>
            </a:r>
            <a:r>
              <a:rPr lang="en-US" sz="4800" b="1" dirty="0">
                <a:solidFill>
                  <a:schemeClr val="bg1"/>
                </a:solidFill>
              </a:rPr>
              <a:t>DCGAN</a:t>
            </a:r>
            <a:endParaRPr lang="ru-RU" sz="4800" b="1" dirty="0">
              <a:solidFill>
                <a:schemeClr val="bg1"/>
              </a:solidFill>
            </a:endParaRPr>
          </a:p>
        </p:txBody>
      </p:sp>
      <p:sp>
        <p:nvSpPr>
          <p:cNvPr id="5" name="AutoShape 2" descr="https://smerity.com/media/images/articles/2016/gnmt_arch_deep_residuals.svg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4" descr="https://smerity.com/media/images/articles/2016/gnmt_arch_deep_residuals.svg"/>
          <p:cNvSpPr>
            <a:spLocks noChangeAspect="1" noChangeArrowheads="1"/>
          </p:cNvSpPr>
          <p:nvPr/>
        </p:nvSpPr>
        <p:spPr bwMode="auto">
          <a:xfrm>
            <a:off x="1831975" y="79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1728998" y="1031405"/>
            <a:ext cx="87340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PetersburgC-Identity-H"/>
              </a:rPr>
              <a:t>(</a:t>
            </a:r>
            <a:endParaRPr lang="ru-RU" dirty="0"/>
          </a:p>
        </p:txBody>
      </p:sp>
      <p:pic>
        <p:nvPicPr>
          <p:cNvPr id="9" name="Picture 2" descr="ÐÐ°ÑÑÐ¸Ð½ÐºÐ¸ Ð¿Ð¾ Ð·Ð°Ð¿ÑÐ¾ÑÑ DCGAN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8331" y="789510"/>
            <a:ext cx="8132940" cy="4168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generator network">
            <a:extLst>
              <a:ext uri="{FF2B5EF4-FFF2-40B4-BE49-F238E27FC236}">
                <a16:creationId xmlns:a16="http://schemas.microsoft.com/office/drawing/2014/main" id="{C25F85F8-8890-47A7-8951-50DF7BE93B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1968855" y="5013176"/>
            <a:ext cx="4055947" cy="1592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discriminator network">
            <a:extLst>
              <a:ext uri="{FF2B5EF4-FFF2-40B4-BE49-F238E27FC236}">
                <a16:creationId xmlns:a16="http://schemas.microsoft.com/office/drawing/2014/main" id="{45B81910-76D8-43F4-BFBF-984070D407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68818" y="5085183"/>
            <a:ext cx="3977681" cy="1350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18211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2514" y="274638"/>
            <a:ext cx="11219543" cy="490066"/>
          </a:xfrm>
        </p:spPr>
        <p:txBody>
          <a:bodyPr>
            <a:noAutofit/>
          </a:bodyPr>
          <a:lstStyle/>
          <a:p>
            <a:r>
              <a:rPr lang="ru-RU" sz="4800" b="1" dirty="0">
                <a:solidFill>
                  <a:schemeClr val="bg1"/>
                </a:solidFill>
              </a:rPr>
              <a:t>Порождающие состязательные сети. </a:t>
            </a:r>
            <a:r>
              <a:rPr lang="en-US" sz="4800" b="1" dirty="0">
                <a:solidFill>
                  <a:schemeClr val="bg1"/>
                </a:solidFill>
              </a:rPr>
              <a:t>Conditional GAN</a:t>
            </a:r>
            <a:endParaRPr lang="ru-RU" sz="4800" b="1" dirty="0">
              <a:solidFill>
                <a:schemeClr val="bg1"/>
              </a:solidFill>
            </a:endParaRPr>
          </a:p>
        </p:txBody>
      </p:sp>
      <p:sp>
        <p:nvSpPr>
          <p:cNvPr id="5" name="AutoShape 2" descr="https://smerity.com/media/images/articles/2016/gnmt_arch_deep_residuals.svg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4" descr="https://smerity.com/media/images/articles/2016/gnmt_arch_deep_residuals.svg"/>
          <p:cNvSpPr>
            <a:spLocks noChangeAspect="1" noChangeArrowheads="1"/>
          </p:cNvSpPr>
          <p:nvPr/>
        </p:nvSpPr>
        <p:spPr bwMode="auto">
          <a:xfrm>
            <a:off x="1831975" y="79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Объект 6"/>
              <p:cNvSpPr>
                <a:spLocks noGrp="1"/>
              </p:cNvSpPr>
              <p:nvPr>
                <p:ph idx="1"/>
              </p:nvPr>
            </p:nvSpPr>
            <p:spPr>
              <a:xfrm>
                <a:off x="391886" y="1146628"/>
                <a:ext cx="11219543" cy="5378715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>
                    <a:solidFill>
                      <a:schemeClr val="bg1"/>
                    </a:solidFill>
                  </a:rPr>
                  <a:t>conditional GAN</a:t>
                </a:r>
                <a:r>
                  <a:rPr lang="ru-RU" sz="2000" dirty="0">
                    <a:solidFill>
                      <a:schemeClr val="bg1"/>
                    </a:solidFill>
                  </a:rPr>
                  <a:t> - модель использует дополнительную информацию </a:t>
                </a:r>
                <a:r>
                  <a:rPr lang="ru-RU" sz="2000" b="1" i="1" dirty="0">
                    <a:solidFill>
                      <a:schemeClr val="bg1"/>
                    </a:solidFill>
                  </a:rPr>
                  <a:t>y</a:t>
                </a:r>
                <a:r>
                  <a:rPr lang="ru-RU" sz="2000" dirty="0">
                    <a:solidFill>
                      <a:schemeClr val="bg1"/>
                    </a:solidFill>
                  </a:rPr>
                  <a:t>, которая часто доступна вместе с примерами </a:t>
                </a:r>
                <a:r>
                  <a:rPr lang="ru-RU" sz="2000" b="1" i="1" dirty="0">
                    <a:solidFill>
                      <a:schemeClr val="bg1"/>
                    </a:solidFill>
                  </a:rPr>
                  <a:t>x</a:t>
                </a:r>
                <a:r>
                  <a:rPr lang="ru-RU" sz="2000" dirty="0">
                    <a:solidFill>
                      <a:schemeClr val="bg1"/>
                    </a:solidFill>
                  </a:rPr>
                  <a:t>; </a:t>
                </a:r>
              </a:p>
              <a:p>
                <a:pPr lvl="1"/>
                <a:r>
                  <a:rPr lang="ru-RU" sz="2000" dirty="0">
                    <a:solidFill>
                      <a:schemeClr val="bg1"/>
                    </a:solidFill>
                  </a:rPr>
                  <a:t>например, метка класса изображения (кошка или собака, номер цифры). </a:t>
                </a:r>
              </a:p>
              <a:p>
                <a:pPr lvl="1"/>
                <a:r>
                  <a:rPr lang="ru-RU" sz="2000" dirty="0">
                    <a:solidFill>
                      <a:schemeClr val="bg1"/>
                    </a:solidFill>
                  </a:rPr>
                  <a:t>Метка подается на вход генератора и дискриминатора</a:t>
                </a:r>
                <a:endParaRPr lang="en-US" sz="2000" dirty="0">
                  <a:solidFill>
                    <a:schemeClr val="bg1"/>
                  </a:solidFill>
                </a:endParaRPr>
              </a:p>
              <a:p>
                <a:pPr lvl="1"/>
                <a:r>
                  <a:rPr lang="ru-RU" sz="2000" dirty="0">
                    <a:solidFill>
                      <a:schemeClr val="bg1"/>
                    </a:solidFill>
                  </a:rPr>
                  <a:t>Генератор строит распределение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000" i="1" dirty="0">
                            <a:solidFill>
                              <a:schemeClr val="bg1"/>
                            </a:solidFill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ru-RU" sz="2000" i="1" dirty="0" err="1">
                            <a:solidFill>
                              <a:schemeClr val="bg1"/>
                            </a:solidFill>
                            <a:latin typeface="Cambria Math"/>
                          </a:rPr>
                          <m:t>𝑔𝑒𝑛</m:t>
                        </m:r>
                      </m:sub>
                    </m:sSub>
                    <m:r>
                      <a:rPr lang="ru-RU" sz="2000" i="1" dirty="0">
                        <a:solidFill>
                          <a:schemeClr val="bg1"/>
                        </a:solidFill>
                        <a:latin typeface="Cambria Math"/>
                      </a:rPr>
                      <m:t>(</m:t>
                    </m:r>
                    <m:r>
                      <a:rPr lang="ru-RU" sz="2000" b="1" i="1" dirty="0">
                        <a:solidFill>
                          <a:schemeClr val="bg1"/>
                        </a:solidFill>
                        <a:latin typeface="Cambria Math"/>
                      </a:rPr>
                      <m:t>𝒙</m:t>
                    </m:r>
                    <m:r>
                      <a:rPr lang="ru-RU" sz="2000" b="1" i="1" dirty="0">
                        <a:solidFill>
                          <a:schemeClr val="bg1"/>
                        </a:solidFill>
                        <a:latin typeface="Cambria Math"/>
                      </a:rPr>
                      <m:t> </m:t>
                    </m:r>
                    <m:r>
                      <a:rPr lang="en-US" sz="2000" i="1" dirty="0">
                        <a:solidFill>
                          <a:schemeClr val="bg1"/>
                        </a:solidFill>
                        <a:latin typeface="Cambria Math"/>
                      </a:rPr>
                      <m:t>|</m:t>
                    </m:r>
                    <m:r>
                      <a:rPr lang="ru-RU" sz="2000" i="1" dirty="0">
                        <a:solidFill>
                          <a:schemeClr val="bg1"/>
                        </a:solidFill>
                        <a:latin typeface="Cambria Math"/>
                      </a:rPr>
                      <m:t> </m:t>
                    </m:r>
                    <m:r>
                      <a:rPr lang="ru-RU" sz="2000" b="1" i="1" dirty="0" smtClean="0">
                        <a:solidFill>
                          <a:schemeClr val="bg1"/>
                        </a:solidFill>
                        <a:latin typeface="Cambria Math"/>
                      </a:rPr>
                      <m:t>𝒚</m:t>
                    </m:r>
                    <m:r>
                      <a:rPr lang="ru-RU" sz="2000" i="1" dirty="0">
                        <a:solidFill>
                          <a:schemeClr val="bg1"/>
                        </a:solidFill>
                        <a:latin typeface="Cambria Math"/>
                      </a:rPr>
                      <m:t>) = </m:t>
                    </m:r>
                    <m:r>
                      <a:rPr lang="ru-RU" sz="2000" i="1" dirty="0">
                        <a:solidFill>
                          <a:schemeClr val="bg1"/>
                        </a:solidFill>
                        <a:latin typeface="Cambria Math"/>
                      </a:rPr>
                      <m:t>𝐺</m:t>
                    </m:r>
                    <m:r>
                      <a:rPr lang="ru-RU" sz="2000" i="1" dirty="0">
                        <a:solidFill>
                          <a:schemeClr val="bg1"/>
                        </a:solidFill>
                        <a:latin typeface="Cambria Math"/>
                      </a:rPr>
                      <m:t>(</m:t>
                    </m:r>
                    <m:r>
                      <a:rPr lang="ru-RU" sz="2000" b="1" i="1" dirty="0">
                        <a:solidFill>
                          <a:schemeClr val="bg1"/>
                        </a:solidFill>
                        <a:latin typeface="Cambria Math"/>
                      </a:rPr>
                      <m:t>𝒛</m:t>
                    </m:r>
                    <m:r>
                      <a:rPr lang="en-US" sz="2000" i="1" dirty="0">
                        <a:solidFill>
                          <a:schemeClr val="bg1"/>
                        </a:solidFill>
                        <a:latin typeface="Cambria Math"/>
                      </a:rPr>
                      <m:t>,</m:t>
                    </m:r>
                    <m:r>
                      <a:rPr lang="ru-RU" sz="2000" i="1" dirty="0">
                        <a:solidFill>
                          <a:schemeClr val="bg1"/>
                        </a:solidFill>
                        <a:latin typeface="Cambria Math"/>
                      </a:rPr>
                      <m:t> </m:t>
                    </m:r>
                    <m:r>
                      <a:rPr lang="ru-RU" sz="2000" b="1" i="1" dirty="0">
                        <a:solidFill>
                          <a:schemeClr val="bg1"/>
                        </a:solidFill>
                        <a:latin typeface="Cambria Math"/>
                      </a:rPr>
                      <m:t>𝒚</m:t>
                    </m:r>
                    <m:r>
                      <a:rPr lang="ru-RU" sz="2000" i="1" dirty="0">
                        <a:solidFill>
                          <a:schemeClr val="bg1"/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ru-RU" sz="2000" dirty="0">
                  <a:solidFill>
                    <a:schemeClr val="bg1"/>
                  </a:solidFill>
                </a:endParaRPr>
              </a:p>
              <a:p>
                <a:pPr lvl="1"/>
                <a:r>
                  <a:rPr lang="ru-RU" sz="2000" dirty="0">
                    <a:solidFill>
                      <a:schemeClr val="bg1"/>
                    </a:solidFill>
                  </a:rPr>
                  <a:t>Дискриминатор задан распределением </a:t>
                </a:r>
                <a:r>
                  <a:rPr lang="ru-RU" sz="2000" i="1" dirty="0">
                    <a:solidFill>
                      <a:schemeClr val="bg1"/>
                    </a:solidFill>
                  </a:rPr>
                  <a:t>D</a:t>
                </a:r>
                <a:r>
                  <a:rPr lang="ru-RU" sz="2000" dirty="0">
                    <a:solidFill>
                      <a:schemeClr val="bg1"/>
                    </a:solidFill>
                  </a:rPr>
                  <a:t>(</a:t>
                </a:r>
                <a:r>
                  <a:rPr lang="ru-RU" sz="2000" b="1" i="1" dirty="0">
                    <a:solidFill>
                      <a:schemeClr val="bg1"/>
                    </a:solidFill>
                  </a:rPr>
                  <a:t>x </a:t>
                </a:r>
                <a:r>
                  <a:rPr lang="en-US" sz="2000" dirty="0">
                    <a:solidFill>
                      <a:schemeClr val="bg1"/>
                    </a:solidFill>
                  </a:rPr>
                  <a:t>|</a:t>
                </a:r>
                <a:r>
                  <a:rPr lang="ru-RU" sz="2000" i="1" dirty="0">
                    <a:solidFill>
                      <a:schemeClr val="bg1"/>
                    </a:solidFill>
                  </a:rPr>
                  <a:t> </a:t>
                </a:r>
                <a:r>
                  <a:rPr lang="ru-RU" sz="2000" b="1" i="1" dirty="0">
                    <a:solidFill>
                      <a:schemeClr val="bg1"/>
                    </a:solidFill>
                  </a:rPr>
                  <a:t>y</a:t>
                </a:r>
                <a:r>
                  <a:rPr lang="ru-RU" sz="2000" dirty="0">
                    <a:solidFill>
                      <a:schemeClr val="bg1"/>
                    </a:solidFill>
                  </a:rPr>
                  <a:t>)  </a:t>
                </a:r>
              </a:p>
              <a:p>
                <a:pPr lvl="2"/>
                <a:r>
                  <a:rPr lang="ru-RU" sz="2200" dirty="0">
                    <a:solidFill>
                      <a:schemeClr val="bg1"/>
                    </a:solidFill>
                  </a:rPr>
                  <a:t>вход «настоящий», тоже при условии </a:t>
                </a:r>
                <a:r>
                  <a:rPr lang="ru-RU" sz="2200" b="1" i="1" dirty="0">
                    <a:solidFill>
                      <a:schemeClr val="bg1"/>
                    </a:solidFill>
                  </a:rPr>
                  <a:t>y</a:t>
                </a:r>
                <a:r>
                  <a:rPr lang="ru-RU" sz="2200" dirty="0">
                    <a:solidFill>
                      <a:schemeClr val="bg1"/>
                    </a:solidFill>
                  </a:rPr>
                  <a:t>.</a:t>
                </a:r>
              </a:p>
              <a:p>
                <a:pPr lvl="2"/>
                <a:endParaRPr lang="ru-RU" sz="2200" dirty="0">
                  <a:solidFill>
                    <a:schemeClr val="bg1"/>
                  </a:solidFill>
                </a:endParaRPr>
              </a:p>
              <a:p>
                <a:pPr lvl="1"/>
                <a:endParaRPr lang="ru-RU" sz="1600" dirty="0"/>
              </a:p>
            </p:txBody>
          </p:sp>
        </mc:Choice>
        <mc:Fallback xmlns="">
          <p:sp>
            <p:nvSpPr>
              <p:cNvPr id="7" name="Объект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1886" y="1146628"/>
                <a:ext cx="11219543" cy="5378715"/>
              </a:xfrm>
              <a:blipFill>
                <a:blip r:embed="rId2"/>
                <a:stretch>
                  <a:fillRect l="-452" t="-14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0095" y="3733540"/>
            <a:ext cx="3630563" cy="284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235390" y="3861049"/>
            <a:ext cx="653660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i="1" dirty="0">
                <a:solidFill>
                  <a:schemeClr val="bg1"/>
                </a:solidFill>
              </a:rPr>
              <a:t>Проблема обычного </a:t>
            </a:r>
            <a:r>
              <a:rPr lang="en-US" i="1" dirty="0">
                <a:solidFill>
                  <a:schemeClr val="bg1"/>
                </a:solidFill>
              </a:rPr>
              <a:t>GAN </a:t>
            </a:r>
            <a:r>
              <a:rPr lang="ru-RU" i="1" dirty="0">
                <a:solidFill>
                  <a:schemeClr val="bg1"/>
                </a:solidFill>
              </a:rPr>
              <a:t>– модель может</a:t>
            </a:r>
            <a:r>
              <a:rPr lang="en-US" i="1" dirty="0">
                <a:solidFill>
                  <a:schemeClr val="bg1"/>
                </a:solidFill>
              </a:rPr>
              <a:t> </a:t>
            </a:r>
            <a:r>
              <a:rPr lang="ru-RU" i="1" dirty="0">
                <a:solidFill>
                  <a:schemeClr val="bg1"/>
                </a:solidFill>
              </a:rPr>
              <a:t>выбрать только ряд мод и генерировать</a:t>
            </a:r>
            <a:r>
              <a:rPr lang="en-US" i="1" dirty="0">
                <a:solidFill>
                  <a:schemeClr val="bg1"/>
                </a:solidFill>
              </a:rPr>
              <a:t> </a:t>
            </a:r>
            <a:r>
              <a:rPr lang="ru-RU" i="1" dirty="0">
                <a:solidFill>
                  <a:schemeClr val="bg1"/>
                </a:solidFill>
              </a:rPr>
              <a:t>только из них.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i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i="1" dirty="0">
                <a:solidFill>
                  <a:schemeClr val="bg1"/>
                </a:solidFill>
              </a:rPr>
              <a:t>Напр. выбрать только 3 и</a:t>
            </a:r>
            <a:r>
              <a:rPr lang="en-US" i="1" dirty="0">
                <a:solidFill>
                  <a:schemeClr val="bg1"/>
                </a:solidFill>
              </a:rPr>
              <a:t> </a:t>
            </a:r>
            <a:r>
              <a:rPr lang="ru-RU" i="1" dirty="0">
                <a:solidFill>
                  <a:schemeClr val="bg1"/>
                </a:solidFill>
              </a:rPr>
              <a:t>7 из всех цифр и генерировать только из них.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i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i="1" dirty="0">
                <a:solidFill>
                  <a:schemeClr val="bg1"/>
                </a:solidFill>
              </a:rPr>
              <a:t>Использование явных меток позволяет повысить независимость результатов.</a:t>
            </a:r>
          </a:p>
        </p:txBody>
      </p:sp>
    </p:spTree>
    <p:extLst>
      <p:ext uri="{BB962C8B-B14F-4D97-AF65-F5344CB8AC3E}">
        <p14:creationId xmlns:p14="http://schemas.microsoft.com/office/powerpoint/2010/main" val="23220537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66057" y="289495"/>
            <a:ext cx="10925175" cy="903437"/>
          </a:xfrm>
        </p:spPr>
        <p:txBody>
          <a:bodyPr>
            <a:noAutofit/>
          </a:bodyPr>
          <a:lstStyle/>
          <a:p>
            <a:r>
              <a:rPr lang="ru-RU" sz="4800" b="1" dirty="0">
                <a:solidFill>
                  <a:schemeClr val="bg1"/>
                </a:solidFill>
              </a:rPr>
              <a:t>Порождающие состязательные сети. </a:t>
            </a:r>
            <a:r>
              <a:rPr lang="en-US" sz="4800" b="1" dirty="0">
                <a:solidFill>
                  <a:schemeClr val="bg1"/>
                </a:solidFill>
              </a:rPr>
              <a:t>Conditional GAN</a:t>
            </a:r>
            <a:endParaRPr lang="ru-RU" sz="4800" b="1" dirty="0">
              <a:solidFill>
                <a:schemeClr val="bg1"/>
              </a:solidFill>
            </a:endParaRPr>
          </a:p>
        </p:txBody>
      </p:sp>
      <p:sp>
        <p:nvSpPr>
          <p:cNvPr id="5" name="AutoShape 2" descr="https://smerity.com/media/images/articles/2016/gnmt_arch_deep_residuals.svg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4" descr="https://smerity.com/media/images/articles/2016/gnmt_arch_deep_residuals.svg"/>
          <p:cNvSpPr>
            <a:spLocks noChangeAspect="1" noChangeArrowheads="1"/>
          </p:cNvSpPr>
          <p:nvPr/>
        </p:nvSpPr>
        <p:spPr bwMode="auto">
          <a:xfrm>
            <a:off x="1831975" y="79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Объект 6"/>
              <p:cNvSpPr>
                <a:spLocks noGrp="1"/>
              </p:cNvSpPr>
              <p:nvPr>
                <p:ph idx="1"/>
              </p:nvPr>
            </p:nvSpPr>
            <p:spPr>
              <a:xfrm>
                <a:off x="1679576" y="1322088"/>
                <a:ext cx="8880921" cy="5275263"/>
              </a:xfrm>
            </p:spPr>
            <p:txBody>
              <a:bodyPr>
                <a:normAutofit/>
              </a:bodyPr>
              <a:lstStyle/>
              <a:p>
                <a:pPr lvl="1"/>
                <a:r>
                  <a:rPr lang="ru-RU" sz="1600" dirty="0">
                    <a:solidFill>
                      <a:schemeClr val="bg1"/>
                    </a:solidFill>
                  </a:rPr>
                  <a:t>Обычный </a:t>
                </a:r>
                <a:r>
                  <a:rPr lang="en-US" sz="1600" dirty="0">
                    <a:solidFill>
                      <a:schemeClr val="bg1"/>
                    </a:solidFill>
                  </a:rPr>
                  <a:t>GAN </a:t>
                </a:r>
                <a14:m>
                  <m:oMath xmlns:m="http://schemas.openxmlformats.org/officeDocument/2006/math">
                    <m:r>
                      <a:rPr lang="ru-RU" sz="1800" i="1" dirty="0">
                        <a:solidFill>
                          <a:schemeClr val="bg1"/>
                        </a:solidFill>
                        <a:latin typeface="Cambria Math"/>
                      </a:rPr>
                      <m:t>𝑉</m:t>
                    </m:r>
                    <m:r>
                      <a:rPr lang="ru-RU" sz="1800" i="1" dirty="0">
                        <a:solidFill>
                          <a:schemeClr val="bg1"/>
                        </a:solidFill>
                        <a:latin typeface="Cambria Math"/>
                      </a:rPr>
                      <m:t> (</m:t>
                    </m:r>
                    <m:r>
                      <a:rPr lang="ru-RU" sz="1800" i="1" dirty="0">
                        <a:solidFill>
                          <a:schemeClr val="bg1"/>
                        </a:solidFill>
                        <a:latin typeface="Cambria Math"/>
                      </a:rPr>
                      <m:t>𝐷</m:t>
                    </m:r>
                    <m:r>
                      <a:rPr lang="ru-RU" sz="1800" i="1" dirty="0">
                        <a:solidFill>
                          <a:schemeClr val="bg1"/>
                        </a:solidFill>
                        <a:latin typeface="Cambria Math"/>
                      </a:rPr>
                      <m:t>, </m:t>
                    </m:r>
                    <m:r>
                      <a:rPr lang="ru-RU" sz="1800" i="1" dirty="0">
                        <a:solidFill>
                          <a:schemeClr val="bg1"/>
                        </a:solidFill>
                        <a:latin typeface="Cambria Math"/>
                      </a:rPr>
                      <m:t>𝐺</m:t>
                    </m:r>
                    <m:r>
                      <a:rPr lang="ru-RU" sz="1800" i="1" dirty="0">
                        <a:solidFill>
                          <a:schemeClr val="bg1"/>
                        </a:solidFill>
                        <a:latin typeface="Cambria Math"/>
                      </a:rPr>
                      <m:t>)=</m:t>
                    </m:r>
                    <m:sSub>
                      <m:sSubPr>
                        <m:ctrlPr>
                          <a:rPr lang="en-US" sz="16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sSub>
                          <m:sSubPr>
                            <m:ctrlPr>
                              <a:rPr lang="en-US" sz="16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600" i="1" dirty="0" err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i="1" dirty="0">
                                <a:solidFill>
                                  <a:schemeClr val="bg1"/>
                                </a:solidFill>
                                <a:latin typeface="Cambria Math"/>
                              </a:rPr>
                              <m:t>𝑠</m:t>
                            </m:r>
                          </m:sub>
                        </m:sSub>
                        <m:r>
                          <a:rPr lang="ru-RU" sz="1600" i="1" dirty="0" err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∼</m:t>
                        </m:r>
                        <m:sSub>
                          <m:sSubPr>
                            <m:ctrlPr>
                              <a:rPr lang="en-US" sz="16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600" i="1" dirty="0" err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ru-RU" sz="1600" i="1" dirty="0" err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𝑑𝑎𝑡𝑎</m:t>
                            </m:r>
                          </m:sub>
                        </m:sSub>
                        <m:d>
                          <m:dPr>
                            <m:ctrlPr>
                              <a:rPr lang="ru-RU" sz="16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sz="16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sub>
                    </m:sSub>
                    <m:r>
                      <a:rPr lang="ru-RU" sz="16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[</m:t>
                    </m:r>
                    <m:r>
                      <m:rPr>
                        <m:sty m:val="p"/>
                      </m:rPr>
                      <a:rPr lang="ru-RU" sz="16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ru-RU" sz="16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⁡</m:t>
                    </m:r>
                    <m:r>
                      <a:rPr lang="ru-RU" sz="16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ru-RU" sz="16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sz="16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sz="16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)] +</m:t>
                    </m:r>
                    <m:sSub>
                      <m:sSubPr>
                        <m:ctrlPr>
                          <a:rPr lang="en-US" sz="18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chemeClr val="bg1"/>
                            </a:solidFill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ru-RU" sz="1800" i="1" dirty="0">
                            <a:solidFill>
                              <a:schemeClr val="bg1"/>
                            </a:solidFill>
                            <a:latin typeface="Cambria Math"/>
                          </a:rPr>
                          <m:t>𝑧</m:t>
                        </m:r>
                        <m:r>
                          <a:rPr lang="ru-RU" sz="1800" i="1" dirty="0">
                            <a:solidFill>
                              <a:schemeClr val="bg1"/>
                            </a:solidFill>
                            <a:latin typeface="Cambria Math"/>
                          </a:rPr>
                          <m:t>∼</m:t>
                        </m:r>
                        <m:sSub>
                          <m:sSubPr>
                            <m:ctrlPr>
                              <a:rPr lang="en-US" sz="18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800" i="1" dirty="0">
                                <a:solidFill>
                                  <a:schemeClr val="bg1"/>
                                </a:solidFill>
                                <a:latin typeface="Cambria Math"/>
                              </a:rPr>
                              <m:t>𝑝</m:t>
                            </m:r>
                          </m:e>
                          <m:sub>
                            <m:r>
                              <a:rPr lang="ru-RU" sz="1800" i="1" dirty="0">
                                <a:solidFill>
                                  <a:schemeClr val="bg1"/>
                                </a:solidFill>
                                <a:latin typeface="Cambria Math"/>
                              </a:rPr>
                              <m:t>𝑧</m:t>
                            </m:r>
                          </m:sub>
                        </m:sSub>
                        <m:r>
                          <a:rPr lang="en-US" sz="1800" i="1" dirty="0">
                            <a:solidFill>
                              <a:schemeClr val="bg1"/>
                            </a:solidFill>
                            <a:latin typeface="Cambria Math"/>
                          </a:rPr>
                          <m:t>(</m:t>
                        </m:r>
                        <m:r>
                          <a:rPr lang="en-US" sz="1800" i="1" dirty="0">
                            <a:solidFill>
                              <a:schemeClr val="bg1"/>
                            </a:solidFill>
                            <a:latin typeface="Cambria Math"/>
                          </a:rPr>
                          <m:t>𝑧</m:t>
                        </m:r>
                        <m:r>
                          <a:rPr lang="en-US" sz="1800" i="1" dirty="0">
                            <a:solidFill>
                              <a:schemeClr val="bg1"/>
                            </a:solidFill>
                            <a:latin typeface="Cambria Math"/>
                          </a:rPr>
                          <m:t>)</m:t>
                        </m:r>
                      </m:sub>
                    </m:sSub>
                    <m:r>
                      <a:rPr lang="ru-RU" sz="1800" i="1" dirty="0">
                        <a:solidFill>
                          <a:schemeClr val="bg1"/>
                        </a:solidFill>
                        <a:latin typeface="Cambria Math"/>
                      </a:rPr>
                      <m:t> [</m:t>
                    </m:r>
                    <m:r>
                      <m:rPr>
                        <m:sty m:val="p"/>
                      </m:rPr>
                      <a:rPr lang="en-US" sz="1800" i="1" dirty="0">
                        <a:solidFill>
                          <a:schemeClr val="bg1"/>
                        </a:solidFill>
                        <a:latin typeface="Cambria Math"/>
                      </a:rPr>
                      <m:t>log</m:t>
                    </m:r>
                    <m:r>
                      <a:rPr lang="en-US" sz="1800" i="1" dirty="0">
                        <a:solidFill>
                          <a:schemeClr val="bg1"/>
                        </a:solidFill>
                        <a:latin typeface="Cambria Math"/>
                      </a:rPr>
                      <m:t>(1 − </m:t>
                    </m:r>
                    <m:r>
                      <m:rPr>
                        <m:sty m:val="p"/>
                      </m:rPr>
                      <a:rPr lang="ru-RU" sz="1800" i="1" dirty="0">
                        <a:solidFill>
                          <a:schemeClr val="bg1"/>
                        </a:solidFill>
                        <a:latin typeface="Cambria Math"/>
                      </a:rPr>
                      <m:t>D</m:t>
                    </m:r>
                    <m:d>
                      <m:dPr>
                        <m:ctrlPr>
                          <a:rPr lang="ru-RU" sz="18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ru-RU" sz="1800" i="1" dirty="0">
                            <a:solidFill>
                              <a:schemeClr val="bg1"/>
                            </a:solidFill>
                            <a:latin typeface="Cambria Math"/>
                          </a:rPr>
                          <m:t>G</m:t>
                        </m:r>
                        <m:d>
                          <m:dPr>
                            <m:ctrlPr>
                              <a:rPr lang="ru-RU" sz="18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1800" i="1" dirty="0">
                                <a:solidFill>
                                  <a:schemeClr val="bg1"/>
                                </a:solidFill>
                                <a:latin typeface="Cambria Math"/>
                              </a:rPr>
                              <m:t>z</m:t>
                            </m:r>
                          </m:e>
                        </m:d>
                      </m:e>
                    </m:d>
                    <m:r>
                      <a:rPr lang="en-US" sz="1800" i="1" dirty="0">
                        <a:solidFill>
                          <a:schemeClr val="bg1"/>
                        </a:solidFill>
                        <a:latin typeface="Cambria Math"/>
                      </a:rPr>
                      <m:t>]</m:t>
                    </m:r>
                  </m:oMath>
                </a14:m>
                <a:endParaRPr lang="en-US" sz="1800" dirty="0">
                  <a:solidFill>
                    <a:schemeClr val="bg1"/>
                  </a:solidFill>
                </a:endParaRPr>
              </a:p>
              <a:p>
                <a:pPr lvl="1"/>
                <a:endParaRPr lang="ru-RU" sz="1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Объект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79576" y="1322088"/>
                <a:ext cx="8880921" cy="527526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4725" y="1192933"/>
            <a:ext cx="2849389" cy="1941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5" descr="ÐÐµÐ¹ÑÐ¾ÑÐµÑÐµÐ²Ð°Ñ Ð¸Ð³ÑÐ° Ð² Ð¸Ð¼Ð¸ÑÐ°ÑÐ¸Ñ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9737" y="3356992"/>
            <a:ext cx="6621713" cy="3337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481465" y="2143983"/>
                <a:ext cx="7143185" cy="9899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</a:rPr>
                  <a:t>Conditional GAN</a:t>
                </a:r>
              </a:p>
              <a:p>
                <a14:m>
                  <m:oMath xmlns:m="http://schemas.openxmlformats.org/officeDocument/2006/math">
                    <m:r>
                      <a:rPr lang="ru-RU" sz="2000" i="1" dirty="0">
                        <a:solidFill>
                          <a:schemeClr val="bg1"/>
                        </a:solidFill>
                        <a:latin typeface="Cambria Math"/>
                      </a:rPr>
                      <m:t>𝑉</m:t>
                    </m:r>
                    <m:r>
                      <a:rPr lang="ru-RU" sz="2000" i="1" dirty="0">
                        <a:solidFill>
                          <a:schemeClr val="bg1"/>
                        </a:solidFill>
                        <a:latin typeface="Cambria Math"/>
                      </a:rPr>
                      <m:t> (</m:t>
                    </m:r>
                    <m:r>
                      <a:rPr lang="ru-RU" sz="2000" i="1" dirty="0">
                        <a:solidFill>
                          <a:schemeClr val="bg1"/>
                        </a:solidFill>
                        <a:latin typeface="Cambria Math"/>
                      </a:rPr>
                      <m:t>𝐷</m:t>
                    </m:r>
                    <m:r>
                      <a:rPr lang="ru-RU" sz="2000" i="1" dirty="0">
                        <a:solidFill>
                          <a:schemeClr val="bg1"/>
                        </a:solidFill>
                        <a:latin typeface="Cambria Math"/>
                      </a:rPr>
                      <m:t>, </m:t>
                    </m:r>
                    <m:r>
                      <a:rPr lang="ru-RU" sz="2000" i="1" dirty="0">
                        <a:solidFill>
                          <a:schemeClr val="bg1"/>
                        </a:solidFill>
                        <a:latin typeface="Cambria Math"/>
                      </a:rPr>
                      <m:t>𝐺</m:t>
                    </m:r>
                    <m:r>
                      <a:rPr lang="ru-RU" sz="2000" i="1" dirty="0">
                        <a:solidFill>
                          <a:schemeClr val="bg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sSub>
                          <m:sSubPr>
                            <m:ctrlPr>
                              <a:rPr lang="en-US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 dirty="0" err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 dirty="0">
                                <a:solidFill>
                                  <a:schemeClr val="bg1"/>
                                </a:solidFill>
                                <a:latin typeface="Cambria Math"/>
                              </a:rPr>
                              <m:t>𝑠</m:t>
                            </m:r>
                          </m:sub>
                        </m:sSub>
                        <m:r>
                          <a:rPr lang="ru-RU" i="1" dirty="0" err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∼</m:t>
                        </m:r>
                        <m:sSub>
                          <m:sSubPr>
                            <m:ctrlPr>
                              <a:rPr lang="en-US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 dirty="0" err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ru-RU" i="1" dirty="0" err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𝑑𝑎𝑡𝑎</m:t>
                            </m:r>
                          </m:sub>
                        </m:sSub>
                        <m:d>
                          <m:dPr>
                            <m:ctrlPr>
                              <a:rPr lang="ru-RU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sub>
                    </m:sSub>
                    <m:r>
                      <a:rPr lang="ru-RU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ru-RU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ru-RU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ru-RU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ru-RU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  <m:d>
                              <m:dPr>
                                <m:ctrlPr>
                                  <a:rPr lang="ru-RU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u-RU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 dirty="0">
                                    <a:solidFill>
                                      <a:schemeClr val="bg1"/>
                                    </a:solidFill>
                                    <a:latin typeface="Cambria Math"/>
                                  </a:rPr>
                                  <m:t>|</m:t>
                                </m:r>
                                <m:r>
                                  <a:rPr lang="en-US" i="1" dirty="0">
                                    <a:solidFill>
                                      <a:schemeClr val="bg1"/>
                                    </a:solidFill>
                                    <a:latin typeface="Cambria Math"/>
                                  </a:rPr>
                                  <m:t>𝑦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i="1" dirty="0">
                        <a:solidFill>
                          <a:schemeClr val="bg1"/>
                        </a:solidFill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chemeClr val="bg1"/>
                            </a:solidFill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ru-RU" sz="2000" i="1" dirty="0">
                            <a:solidFill>
                              <a:schemeClr val="bg1"/>
                            </a:solidFill>
                            <a:latin typeface="Cambria Math"/>
                          </a:rPr>
                          <m:t>𝑧</m:t>
                        </m:r>
                        <m:r>
                          <a:rPr lang="ru-RU" sz="2000" i="1" dirty="0">
                            <a:solidFill>
                              <a:schemeClr val="bg1"/>
                            </a:solidFill>
                            <a:latin typeface="Cambria Math"/>
                          </a:rPr>
                          <m:t>∼</m:t>
                        </m:r>
                        <m:sSub>
                          <m:sSubPr>
                            <m:ctrlPr>
                              <a:rPr lang="en-US" sz="2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000" i="1" dirty="0">
                                <a:solidFill>
                                  <a:schemeClr val="bg1"/>
                                </a:solidFill>
                                <a:latin typeface="Cambria Math"/>
                              </a:rPr>
                              <m:t>𝑝</m:t>
                            </m:r>
                          </m:e>
                          <m:sub>
                            <m:r>
                              <a:rPr lang="ru-RU" sz="2000" i="1" dirty="0">
                                <a:solidFill>
                                  <a:schemeClr val="bg1"/>
                                </a:solidFill>
                                <a:latin typeface="Cambria Math"/>
                              </a:rPr>
                              <m:t>𝑧</m:t>
                            </m:r>
                          </m:sub>
                        </m:sSub>
                        <m:r>
                          <a:rPr lang="en-US" sz="2000" i="1" dirty="0">
                            <a:solidFill>
                              <a:schemeClr val="bg1"/>
                            </a:solidFill>
                            <a:latin typeface="Cambria Math"/>
                          </a:rPr>
                          <m:t>(</m:t>
                        </m:r>
                        <m:r>
                          <a:rPr lang="en-US" sz="2000" i="1" dirty="0">
                            <a:solidFill>
                              <a:schemeClr val="bg1"/>
                            </a:solidFill>
                            <a:latin typeface="Cambria Math"/>
                          </a:rPr>
                          <m:t>𝑧</m:t>
                        </m:r>
                        <m:r>
                          <a:rPr lang="en-US" sz="2000" i="1" dirty="0">
                            <a:solidFill>
                              <a:schemeClr val="bg1"/>
                            </a:solidFill>
                            <a:latin typeface="Cambria Math"/>
                          </a:rPr>
                          <m:t>)</m:t>
                        </m:r>
                      </m:sub>
                    </m:sSub>
                    <m:r>
                      <a:rPr lang="ru-RU" sz="2000" i="1" dirty="0">
                        <a:solidFill>
                          <a:schemeClr val="bg1"/>
                        </a:solidFill>
                        <a:latin typeface="Cambria Math"/>
                      </a:rPr>
                      <m:t> [</m:t>
                    </m:r>
                    <m:r>
                      <m:rPr>
                        <m:sty m:val="p"/>
                      </m:rPr>
                      <a:rPr lang="en-US" sz="2000" i="1" dirty="0">
                        <a:solidFill>
                          <a:schemeClr val="bg1"/>
                        </a:solidFill>
                        <a:latin typeface="Cambria Math"/>
                      </a:rPr>
                      <m:t>log</m:t>
                    </m:r>
                    <m:r>
                      <a:rPr lang="en-US" sz="2000" i="1" dirty="0">
                        <a:solidFill>
                          <a:schemeClr val="bg1"/>
                        </a:solidFill>
                        <a:latin typeface="Cambria Math"/>
                      </a:rPr>
                      <m:t>(1 − </m:t>
                    </m:r>
                    <m:r>
                      <m:rPr>
                        <m:sty m:val="p"/>
                      </m:rPr>
                      <a:rPr lang="ru-RU" sz="2000" i="1" dirty="0">
                        <a:solidFill>
                          <a:schemeClr val="bg1"/>
                        </a:solidFill>
                        <a:latin typeface="Cambria Math"/>
                      </a:rPr>
                      <m:t>D</m:t>
                    </m:r>
                    <m:d>
                      <m:dPr>
                        <m:ctrlPr>
                          <a:rPr lang="ru-RU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ru-RU" sz="2000" i="1" dirty="0">
                            <a:solidFill>
                              <a:schemeClr val="bg1"/>
                            </a:solidFill>
                            <a:latin typeface="Cambria Math"/>
                          </a:rPr>
                          <m:t>G</m:t>
                        </m:r>
                        <m:d>
                          <m:dPr>
                            <m:ctrlPr>
                              <a:rPr lang="ru-RU" sz="2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2000" i="1" dirty="0">
                                <a:solidFill>
                                  <a:schemeClr val="bg1"/>
                                </a:solidFill>
                                <a:latin typeface="Cambria Math"/>
                              </a:rPr>
                              <m:t>z</m:t>
                            </m:r>
                            <m:r>
                              <a:rPr lang="en-US" sz="2000" i="1" dirty="0">
                                <a:solidFill>
                                  <a:schemeClr val="bg1"/>
                                </a:solidFill>
                                <a:latin typeface="Cambria Math"/>
                              </a:rPr>
                              <m:t>|</m:t>
                            </m:r>
                            <m:r>
                              <a:rPr lang="en-US" sz="2000" i="1" dirty="0" smtClean="0">
                                <a:solidFill>
                                  <a:schemeClr val="bg1"/>
                                </a:solidFill>
                                <a:latin typeface="Cambria Math"/>
                              </a:rPr>
                              <m:t>𝑦</m:t>
                            </m:r>
                          </m:e>
                        </m:d>
                      </m:e>
                    </m:d>
                    <m:r>
                      <a:rPr lang="en-US" sz="2000" i="1" dirty="0">
                        <a:solidFill>
                          <a:schemeClr val="bg1"/>
                        </a:solidFill>
                        <a:latin typeface="Cambria Math"/>
                      </a:rPr>
                      <m:t>]</m:t>
                    </m:r>
                  </m:oMath>
                </a14:m>
                <a:endParaRPr lang="en-US" sz="2000" dirty="0">
                  <a:solidFill>
                    <a:schemeClr val="bg1"/>
                  </a:solidFill>
                </a:endParaRPr>
              </a:p>
              <a:p>
                <a:endParaRPr lang="ru-RU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1465" y="2143983"/>
                <a:ext cx="7143185" cy="989951"/>
              </a:xfrm>
              <a:prstGeom prst="rect">
                <a:avLst/>
              </a:prstGeom>
              <a:blipFill>
                <a:blip r:embed="rId5"/>
                <a:stretch>
                  <a:fillRect l="-709" t="-253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43228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490066"/>
          </a:xfrm>
        </p:spPr>
        <p:txBody>
          <a:bodyPr>
            <a:noAutofit/>
          </a:bodyPr>
          <a:lstStyle/>
          <a:p>
            <a:r>
              <a:rPr lang="ru-RU" sz="4800" b="1" dirty="0">
                <a:solidFill>
                  <a:schemeClr val="bg1"/>
                </a:solidFill>
              </a:rPr>
              <a:t>Порождающие сети</a:t>
            </a:r>
            <a:r>
              <a:rPr lang="en-US" sz="4800" b="1" dirty="0">
                <a:solidFill>
                  <a:schemeClr val="bg1"/>
                </a:solidFill>
              </a:rPr>
              <a:t>. </a:t>
            </a:r>
            <a:r>
              <a:rPr lang="en-US" sz="4800" b="1" dirty="0" err="1">
                <a:solidFill>
                  <a:schemeClr val="bg1"/>
                </a:solidFill>
              </a:rPr>
              <a:t>InfoGAN</a:t>
            </a:r>
            <a:endParaRPr lang="ru-RU" sz="4800" b="1" dirty="0">
              <a:solidFill>
                <a:schemeClr val="bg1"/>
              </a:solidFill>
            </a:endParaRPr>
          </a:p>
        </p:txBody>
      </p:sp>
      <p:sp>
        <p:nvSpPr>
          <p:cNvPr id="5" name="AutoShape 2" descr="https://smerity.com/media/images/articles/2016/gnmt_arch_deep_residuals.svg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4" descr="https://smerity.com/media/images/articles/2016/gnmt_arch_deep_residuals.svg"/>
          <p:cNvSpPr>
            <a:spLocks noChangeAspect="1" noChangeArrowheads="1"/>
          </p:cNvSpPr>
          <p:nvPr/>
        </p:nvSpPr>
        <p:spPr bwMode="auto">
          <a:xfrm>
            <a:off x="1831975" y="79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Объект 6"/>
          <p:cNvSpPr>
            <a:spLocks noGrp="1"/>
          </p:cNvSpPr>
          <p:nvPr>
            <p:ph idx="1"/>
          </p:nvPr>
        </p:nvSpPr>
        <p:spPr>
          <a:xfrm>
            <a:off x="488887" y="836712"/>
            <a:ext cx="10909425" cy="5688632"/>
          </a:xfrm>
        </p:spPr>
        <p:txBody>
          <a:bodyPr>
            <a:normAutofit/>
          </a:bodyPr>
          <a:lstStyle/>
          <a:p>
            <a:r>
              <a:rPr lang="en-US" sz="2200" b="1" dirty="0">
                <a:solidFill>
                  <a:schemeClr val="bg1"/>
                </a:solidFill>
              </a:rPr>
              <a:t>Info GAN </a:t>
            </a:r>
            <a:r>
              <a:rPr lang="ru-RU" sz="2200" b="1" dirty="0">
                <a:solidFill>
                  <a:schemeClr val="bg1"/>
                </a:solidFill>
              </a:rPr>
              <a:t>к задаче оптимизации</a:t>
            </a:r>
            <a:r>
              <a:rPr lang="en-US" sz="2200" b="1" dirty="0">
                <a:solidFill>
                  <a:schemeClr val="bg1"/>
                </a:solidFill>
              </a:rPr>
              <a:t> GAN </a:t>
            </a:r>
            <a:r>
              <a:rPr lang="ru-RU" sz="2200" b="1" dirty="0">
                <a:solidFill>
                  <a:schemeClr val="bg1"/>
                </a:solidFill>
              </a:rPr>
              <a:t>добавляются  дополнительные теоретико-информационные ограничения. </a:t>
            </a:r>
          </a:p>
          <a:p>
            <a:r>
              <a:rPr lang="ru-RU" sz="2000" i="1" dirty="0">
                <a:solidFill>
                  <a:schemeClr val="bg1"/>
                </a:solidFill>
              </a:rPr>
              <a:t>Задача обучить «распутанное» представление (</a:t>
            </a:r>
            <a:r>
              <a:rPr lang="ru-RU" sz="2000" i="1" dirty="0" err="1">
                <a:solidFill>
                  <a:schemeClr val="bg1"/>
                </a:solidFill>
              </a:rPr>
              <a:t>disentangled</a:t>
            </a:r>
            <a:r>
              <a:rPr lang="ru-RU" sz="2000" i="1" dirty="0">
                <a:solidFill>
                  <a:schemeClr val="bg1"/>
                </a:solidFill>
              </a:rPr>
              <a:t> </a:t>
            </a:r>
            <a:r>
              <a:rPr lang="ru-RU" sz="2000" i="1" dirty="0" err="1">
                <a:solidFill>
                  <a:schemeClr val="bg1"/>
                </a:solidFill>
              </a:rPr>
              <a:t>representation</a:t>
            </a:r>
            <a:r>
              <a:rPr lang="ru-RU" sz="2000" i="1" dirty="0">
                <a:solidFill>
                  <a:schemeClr val="bg1"/>
                </a:solidFill>
              </a:rPr>
              <a:t>), в котором отдельные признаки имеют естественную интерпретацию. </a:t>
            </a:r>
          </a:p>
          <a:p>
            <a:pPr lvl="1"/>
            <a:r>
              <a:rPr lang="ru-RU" sz="1800" dirty="0">
                <a:solidFill>
                  <a:schemeClr val="bg1"/>
                </a:solidFill>
              </a:rPr>
              <a:t>Например, хотелось бы, чтобы признаки у GAN, генерирующей человеческое лицо, соответствовали цвету глаз, форме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8637" y="3212977"/>
            <a:ext cx="3568548" cy="30014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013988" y="2897840"/>
            <a:ext cx="6414649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</a:rPr>
              <a:t>Обычные </a:t>
            </a:r>
            <a:r>
              <a:rPr lang="en-US" sz="2000" dirty="0">
                <a:solidFill>
                  <a:schemeClr val="bg1"/>
                </a:solidFill>
              </a:rPr>
              <a:t>GAN </a:t>
            </a:r>
            <a:r>
              <a:rPr lang="ru-RU" sz="2000" dirty="0">
                <a:solidFill>
                  <a:schemeClr val="bg1"/>
                </a:solidFill>
              </a:rPr>
              <a:t>не накладывают ограничения на вектор скрытого представления, </a:t>
            </a:r>
            <a:endParaRPr lang="en-US" sz="2000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в теории, генератор может начать использовать факторы очень нелинейно или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не связано, тем самым ни один из факторов не будет отвечать за какой либо семантический признак . </a:t>
            </a:r>
          </a:p>
        </p:txBody>
      </p:sp>
      <p:pic>
        <p:nvPicPr>
          <p:cNvPr id="9" name="Picture 4" descr="Review — InfoGAN: Interpretable Representation Learning by Information  Maximizing Generative Adversarial Nets | by Sik-Ho Tsang | Medium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2710" y="4563370"/>
            <a:ext cx="2214869" cy="1961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01807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490066"/>
          </a:xfrm>
        </p:spPr>
        <p:txBody>
          <a:bodyPr>
            <a:noAutofit/>
          </a:bodyPr>
          <a:lstStyle/>
          <a:p>
            <a:r>
              <a:rPr lang="ru-RU" sz="4800" b="1" dirty="0">
                <a:solidFill>
                  <a:schemeClr val="bg1"/>
                </a:solidFill>
              </a:rPr>
              <a:t>Порождающие сети</a:t>
            </a:r>
            <a:r>
              <a:rPr lang="en-US" sz="4800" b="1" dirty="0">
                <a:solidFill>
                  <a:schemeClr val="bg1"/>
                </a:solidFill>
              </a:rPr>
              <a:t>. </a:t>
            </a:r>
            <a:r>
              <a:rPr lang="en-US" sz="4800" b="1" dirty="0" err="1">
                <a:solidFill>
                  <a:schemeClr val="bg1"/>
                </a:solidFill>
              </a:rPr>
              <a:t>InfoGAN</a:t>
            </a:r>
            <a:endParaRPr lang="ru-RU" sz="4800" b="1" dirty="0">
              <a:solidFill>
                <a:schemeClr val="bg1"/>
              </a:solidFill>
            </a:endParaRPr>
          </a:p>
        </p:txBody>
      </p:sp>
      <p:sp>
        <p:nvSpPr>
          <p:cNvPr id="5" name="AutoShape 2" descr="https://smerity.com/media/images/articles/2016/gnmt_arch_deep_residuals.svg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4" descr="https://smerity.com/media/images/articles/2016/gnmt_arch_deep_residuals.svg"/>
          <p:cNvSpPr>
            <a:spLocks noChangeAspect="1" noChangeArrowheads="1"/>
          </p:cNvSpPr>
          <p:nvPr/>
        </p:nvSpPr>
        <p:spPr bwMode="auto">
          <a:xfrm>
            <a:off x="1831975" y="79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Объект 6"/>
          <p:cNvSpPr>
            <a:spLocks noGrp="1"/>
          </p:cNvSpPr>
          <p:nvPr>
            <p:ph idx="1"/>
          </p:nvPr>
        </p:nvSpPr>
        <p:spPr>
          <a:xfrm>
            <a:off x="1679576" y="836712"/>
            <a:ext cx="8808913" cy="5688632"/>
          </a:xfrm>
        </p:spPr>
        <p:txBody>
          <a:bodyPr>
            <a:normAutofit/>
          </a:bodyPr>
          <a:lstStyle/>
          <a:p>
            <a:endParaRPr lang="en-US" sz="1800" dirty="0"/>
          </a:p>
          <a:p>
            <a:endParaRPr lang="en-US" sz="1800" dirty="0"/>
          </a:p>
          <a:p>
            <a:pPr marL="0" indent="0">
              <a:buNone/>
            </a:pPr>
            <a:r>
              <a:rPr lang="ru-RU" sz="1800" dirty="0"/>
              <a:t> </a:t>
            </a:r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604" y="836712"/>
            <a:ext cx="5488161" cy="3181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3687325"/>
            <a:ext cx="4724400" cy="31226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 descr="https://miro.medium.com/max/875/1*HRczMwx0frpPU2YkrJvULA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4100" y="1031404"/>
            <a:ext cx="4787900" cy="3272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31492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49943" y="274638"/>
            <a:ext cx="10761787" cy="922114"/>
          </a:xfrm>
        </p:spPr>
        <p:txBody>
          <a:bodyPr>
            <a:noAutofit/>
          </a:bodyPr>
          <a:lstStyle/>
          <a:p>
            <a:r>
              <a:rPr lang="ru-RU" sz="4800" b="1" dirty="0">
                <a:solidFill>
                  <a:schemeClr val="bg1"/>
                </a:solidFill>
              </a:rPr>
              <a:t>Вариационный </a:t>
            </a:r>
            <a:r>
              <a:rPr lang="ru-RU" sz="4800" b="1" dirty="0" err="1">
                <a:solidFill>
                  <a:schemeClr val="bg1"/>
                </a:solidFill>
              </a:rPr>
              <a:t>автоэенкодер</a:t>
            </a:r>
            <a:r>
              <a:rPr lang="ru-RU" sz="4800" b="1" dirty="0">
                <a:solidFill>
                  <a:schemeClr val="bg1"/>
                </a:solidFill>
              </a:rPr>
              <a:t> </a:t>
            </a:r>
            <a:r>
              <a:rPr lang="en-US" sz="4800" b="1" dirty="0">
                <a:solidFill>
                  <a:schemeClr val="bg1"/>
                </a:solidFill>
              </a:rPr>
              <a:t>VAE</a:t>
            </a:r>
            <a:r>
              <a:rPr lang="ru-RU" sz="4800" b="1" dirty="0">
                <a:solidFill>
                  <a:schemeClr val="bg1"/>
                </a:solidFill>
              </a:rPr>
              <a:t>+</a:t>
            </a:r>
            <a:r>
              <a:rPr lang="en-US" sz="4800" b="1" dirty="0">
                <a:solidFill>
                  <a:schemeClr val="bg1"/>
                </a:solidFill>
              </a:rPr>
              <a:t>GAN</a:t>
            </a:r>
            <a:endParaRPr lang="ru-RU" sz="4800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03513" y="1268760"/>
            <a:ext cx="8684743" cy="5400600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Недостаток чистого </a:t>
            </a:r>
            <a:r>
              <a:rPr lang="en-US" sz="2400" dirty="0">
                <a:solidFill>
                  <a:schemeClr val="bg1"/>
                </a:solidFill>
              </a:rPr>
              <a:t>VAE</a:t>
            </a:r>
            <a:r>
              <a:rPr lang="ru-RU" sz="2400" dirty="0">
                <a:solidFill>
                  <a:schemeClr val="bg1"/>
                </a:solidFill>
              </a:rPr>
              <a:t> – размытость данных, по этому к нему лучше добавить дискриминатор, тогда получится </a:t>
            </a:r>
            <a:r>
              <a:rPr lang="en-US" sz="2400" dirty="0">
                <a:solidFill>
                  <a:schemeClr val="bg1"/>
                </a:solidFill>
              </a:rPr>
              <a:t>VAE+GAN </a:t>
            </a:r>
            <a:r>
              <a:rPr lang="ru-RU" sz="2400" dirty="0">
                <a:solidFill>
                  <a:schemeClr val="bg1"/>
                </a:solidFill>
              </a:rPr>
              <a:t>модель</a:t>
            </a:r>
          </a:p>
        </p:txBody>
      </p:sp>
      <p:pic>
        <p:nvPicPr>
          <p:cNvPr id="10242" name="Picture 2" descr="https://habrastorage.org/web/7a1/8db/d39/7a18dbd3969048c2b085cc707e539f0c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0148" y="1961681"/>
            <a:ext cx="5431582" cy="2625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https://habrastorage.org/web/683/e02/848/683e028486074212b85bbb8696cc05b7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4550" y="5043831"/>
            <a:ext cx="6484468" cy="1362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https://miro.medium.com/max/875/1*YbCoW-ducxqJPUKJX58L4Q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810" y="2029557"/>
            <a:ext cx="4352917" cy="3149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59979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Заголовок 1"/>
          <p:cNvSpPr txBox="1">
            <a:spLocks noGrp="1"/>
          </p:cNvSpPr>
          <p:nvPr>
            <p:ph type="title"/>
          </p:nvPr>
        </p:nvSpPr>
        <p:spPr>
          <a:xfrm>
            <a:off x="761999" y="197161"/>
            <a:ext cx="10768737" cy="1015572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</a:rPr>
              <a:t>Cycle GAN</a:t>
            </a:r>
            <a:endParaRPr sz="4800" b="1" dirty="0">
              <a:solidFill>
                <a:schemeClr val="bg1"/>
              </a:solidFill>
            </a:endParaRPr>
          </a:p>
        </p:txBody>
      </p:sp>
      <p:sp>
        <p:nvSpPr>
          <p:cNvPr id="520" name="Объект 2"/>
          <p:cNvSpPr txBox="1"/>
          <p:nvPr/>
        </p:nvSpPr>
        <p:spPr>
          <a:xfrm>
            <a:off x="197713" y="3912204"/>
            <a:ext cx="11333024" cy="5688323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 defTabSz="457200">
              <a:defRPr sz="2100">
                <a:solidFill>
                  <a:srgbClr val="292929"/>
                </a:solidFill>
                <a:latin typeface="Charter Roman"/>
                <a:ea typeface="Charter Roman"/>
                <a:cs typeface="Charter Roman"/>
                <a:sym typeface="Charter Roman"/>
              </a:defRPr>
            </a:pPr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4562947" y="843403"/>
            <a:ext cx="520333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GAN</a:t>
            </a: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9218" name="Picture 2" descr="GAN Lecture 2 (2017): CycleGAN - YouTub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161859"/>
            <a:ext cx="7334250" cy="5500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863343" y="1466661"/>
            <a:ext cx="2767743" cy="1200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Идея в том, чтобы обучить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dirty="0">
                <a:solidFill>
                  <a:schemeClr val="bg1"/>
                </a:solidFill>
              </a:rPr>
              <a:t>Два Генератора так, чтобы 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каждый умел работать 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с двумя наборами данных.</a:t>
            </a: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6005008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951</TotalTime>
  <Words>1157</Words>
  <Application>Microsoft Macintosh PowerPoint</Application>
  <PresentationFormat>Широкоэкранный</PresentationFormat>
  <Paragraphs>104</Paragraphs>
  <Slides>17</Slides>
  <Notes>0</Notes>
  <HiddenSlides>9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PetersburgC-Identity-H</vt:lpstr>
      <vt:lpstr>Тема Office</vt:lpstr>
      <vt:lpstr>Презентация PowerPoint</vt:lpstr>
      <vt:lpstr>Порождающие сети</vt:lpstr>
      <vt:lpstr>Использование порождающих сети</vt:lpstr>
      <vt:lpstr>Порождающие сети</vt:lpstr>
      <vt:lpstr>Вариационный автоэенкодер VAE</vt:lpstr>
      <vt:lpstr>Порождающие состязательные сети (GAN)</vt:lpstr>
      <vt:lpstr>Порождающие состязательные сети (GAN)</vt:lpstr>
      <vt:lpstr>Некоторые типы GAN</vt:lpstr>
      <vt:lpstr>GAN. Обучение</vt:lpstr>
      <vt:lpstr>Соревновательный автоэенкодер</vt:lpstr>
      <vt:lpstr>Порождающие состязательные сети (GAN). DCGAN</vt:lpstr>
      <vt:lpstr>Порождающие состязательные сети. Conditional GAN</vt:lpstr>
      <vt:lpstr>Порождающие состязательные сети. Conditional GAN</vt:lpstr>
      <vt:lpstr>Порождающие сети. InfoGAN</vt:lpstr>
      <vt:lpstr>Порождающие сети. InfoGAN</vt:lpstr>
      <vt:lpstr>Вариационный автоэенкодер VAE+GAN</vt:lpstr>
      <vt:lpstr>Cycle GAN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Задача генерации</dc:title>
  <dc:creator>Ронкин Михаил Владимирович</dc:creator>
  <cp:lastModifiedBy>Ронкин Михаил Владимирович</cp:lastModifiedBy>
  <cp:revision>31</cp:revision>
  <dcterms:created xsi:type="dcterms:W3CDTF">2021-12-17T14:10:12Z</dcterms:created>
  <dcterms:modified xsi:type="dcterms:W3CDTF">2025-11-21T11:51:12Z</dcterms:modified>
</cp:coreProperties>
</file>